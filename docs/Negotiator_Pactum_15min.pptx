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658368"/>
            <a:ext cx="3108960" cy="5504688"/>
          </a:xfrm>
          <a:prstGeom prst="round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41832" y="1078992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</a:rPr>
              <a:t>PACTUM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" y="1627632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Negotiator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" y="2514600"/>
            <a:ext cx="2468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Aptos"/>
              </a:rPr>
              <a:t>Explainable autonomous negotiation for procurement.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51960" y="1280160"/>
            <a:ext cx="6766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2233F"/>
                </a:solidFill>
                <a:latin typeface="Aptos Display"/>
              </a:rPr>
              <a:t>Why we built it this 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9392" y="214884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212529"/>
                </a:solidFill>
                <a:latin typeface="Aptos"/>
              </a:rPr>
              <a:t>The project is less about making a chatbot and more about building safe, multi-issue negotiation logic that can scale.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9476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794760"/>
            <a:ext cx="146304" cy="841248"/>
          </a:xfrm>
          <a:prstGeom prst="rect">
            <a:avLst/>
          </a:prstGeom>
          <a:solidFill>
            <a:srgbClr val="29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97764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Deterministic decisions protect buyer policy and make the system defensible.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80060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4800600"/>
            <a:ext cx="146304" cy="841248"/>
          </a:xfrm>
          <a:prstGeom prst="rect">
            <a:avLst/>
          </a:prstGeom>
          <a:solidFill>
            <a:srgbClr val="D5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98348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AI is used where language is messy, not where commercial commitments are made.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80644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806440"/>
            <a:ext cx="146304" cy="841248"/>
          </a:xfrm>
          <a:prstGeom prst="rect">
            <a:avLst/>
          </a:prstGeom>
          <a:solidFill>
            <a:srgbClr val="29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98932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The result is a reusable negotiation engine rather than a one-off demo interface.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303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746E"/>
                </a:solidFill>
                <a:latin typeface="Aptos"/>
              </a:rPr>
              <a:t>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41248"/>
            <a:ext cx="10241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2233F"/>
                </a:solidFill>
                <a:latin typeface="Aptos Display"/>
              </a:rPr>
              <a:t>The real problem is safe trade-offs, not message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6968" y="13441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56D77"/>
                </a:solidFill>
                <a:latin typeface="Aptos"/>
              </a:rPr>
              <a:t>Procurement negotiation is valuable only if the agent can balance multiple terms without violating policy.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00784"/>
            <a:ext cx="10195560" cy="18288"/>
          </a:xfrm>
          <a:prstGeom prst="rect">
            <a:avLst/>
          </a:prstGeom>
          <a:solidFill>
            <a:srgbClr val="E0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57400"/>
            <a:ext cx="146304" cy="841248"/>
          </a:xfrm>
          <a:prstGeom prst="rect">
            <a:avLst/>
          </a:prstGeom>
          <a:solidFill>
            <a:srgbClr val="29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4028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Price alone is too narrow because buyers trade cost against payment days, delivery time, and contract length.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15468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3154680"/>
            <a:ext cx="146304" cy="841248"/>
          </a:xfrm>
          <a:prstGeom prst="rect">
            <a:avLst/>
          </a:prstGeom>
          <a:solidFill>
            <a:srgbClr val="D5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33756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We built the buyer side because Pactum-like value comes from automating commercial judgment, not only supplier-facing language.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5196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4251960"/>
            <a:ext cx="146304" cy="841248"/>
          </a:xfrm>
          <a:prstGeom prst="rect">
            <a:avLst/>
          </a:prstGeom>
          <a:solidFill>
            <a:srgbClr val="29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43484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The UI exists to exercise the workflow end to end, but the core asset is the decision engine behind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303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57D21"/>
                </a:solidFill>
                <a:latin typeface="Apto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41248"/>
            <a:ext cx="10241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2233F"/>
                </a:solidFill>
                <a:latin typeface="Aptos Display"/>
              </a:rPr>
              <a:t>Why we separated AI from the negotiation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6968" y="13441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56D77"/>
                </a:solidFill>
                <a:latin typeface="Aptos"/>
              </a:rPr>
              <a:t>This boundary was a deliberate product and engineering decision.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00784"/>
            <a:ext cx="10195560" cy="18288"/>
          </a:xfrm>
          <a:prstGeom prst="rect">
            <a:avLst/>
          </a:prstGeom>
          <a:solidFill>
            <a:srgbClr val="E0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57400"/>
            <a:ext cx="146304" cy="841248"/>
          </a:xfrm>
          <a:prstGeom prst="rect">
            <a:avLst/>
          </a:prstGeom>
          <a:solidFill>
            <a:srgbClr val="D5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4028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The final decision is rule-based because reservation limits, acceptance thresholds, and concessions must stay explainable.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15468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3154680"/>
            <a:ext cx="146304" cy="841248"/>
          </a:xfrm>
          <a:prstGeom prst="rect">
            <a:avLst/>
          </a:prstGeom>
          <a:solidFill>
            <a:srgbClr val="29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33756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AI only parses supplier language and drafts buyer wording because natural language is noisy but policy should remain stable.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5196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4251960"/>
            <a:ext cx="146304" cy="841248"/>
          </a:xfrm>
          <a:prstGeom prst="rect">
            <a:avLst/>
          </a:prstGeom>
          <a:solidFill>
            <a:srgbClr val="D5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43484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This split makes the system easier to test, safer to operate, and easier to reuse across web, email, or simulation flows.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303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746E"/>
                </a:solidFill>
                <a:latin typeface="Aptos"/>
              </a:rPr>
              <a:t>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41248"/>
            <a:ext cx="10241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2233F"/>
                </a:solidFill>
                <a:latin typeface="Aptos Display"/>
              </a:rPr>
              <a:t>How the negotiation algorithm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6968" y="13441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56D77"/>
                </a:solidFill>
                <a:latin typeface="Aptos"/>
              </a:rPr>
              <a:t>The engine converts supplier language into bounded commercial decisions.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00784"/>
            <a:ext cx="10195560" cy="18288"/>
          </a:xfrm>
          <a:prstGeom prst="rect">
            <a:avLst/>
          </a:prstGeom>
          <a:solidFill>
            <a:srgbClr val="E0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11680"/>
            <a:ext cx="146304" cy="841248"/>
          </a:xfrm>
          <a:prstGeom prst="rect">
            <a:avLst/>
          </a:prstGeom>
          <a:solidFill>
            <a:srgbClr val="29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9456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Each offer is normalized into buyer utility across four issues and compared with a strategy-specific target for the current round.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10896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3108960"/>
            <a:ext cx="146304" cy="841248"/>
          </a:xfrm>
          <a:prstGeom prst="rect">
            <a:avLst/>
          </a:prstGeom>
          <a:solidFill>
            <a:srgbClr val="D5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29184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The engine checks hard reservation limits first, then decides accept, counter, or reject using round progress and risk posture.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0624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4206240"/>
            <a:ext cx="146304" cy="841248"/>
          </a:xfrm>
          <a:prstGeom prst="rect">
            <a:avLst/>
          </a:prstGeom>
          <a:solidFill>
            <a:srgbClr val="29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38912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Counteroffers rank the biggest weighted gaps, respect supplier constraints, and preserve consistency with earlier concessions.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5577840"/>
            <a:ext cx="10195560" cy="621792"/>
          </a:xfrm>
          <a:prstGeom prst="roundRect">
            <a:avLst/>
          </a:prstGeom>
          <a:solidFill>
            <a:srgbClr val="E8F1F7"/>
          </a:solidFill>
          <a:ln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5742432"/>
            <a:ext cx="9784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12529"/>
                </a:solidFill>
                <a:latin typeface="Aptos"/>
              </a:rPr>
              <a:t>Implementation split: NegotiationApplicationService orchestrates the flow, while NegotiationEngineImpl, DecisionMaker, and CounterOfferGenerator handle scoring and decisions.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303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57D21"/>
                </a:solidFill>
                <a:latin typeface="Aptos"/>
              </a:rPr>
              <a:t>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41248"/>
            <a:ext cx="10241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2233F"/>
                </a:solidFill>
                <a:latin typeface="Aptos Display"/>
              </a:rPr>
              <a:t>Why MESO and multiple strategies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6968" y="13441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56D77"/>
                </a:solidFill>
                <a:latin typeface="Aptos"/>
              </a:rPr>
              <a:t>Different supplier behaviors need different concession patterns.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00784"/>
            <a:ext cx="10195560" cy="18288"/>
          </a:xfrm>
          <a:prstGeom prst="rect">
            <a:avLst/>
          </a:prstGeom>
          <a:solidFill>
            <a:srgbClr val="E0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57400"/>
            <a:ext cx="146304" cy="841248"/>
          </a:xfrm>
          <a:prstGeom prst="rect">
            <a:avLst/>
          </a:prstGeom>
          <a:solidFill>
            <a:srgbClr val="D5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4028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Strategies change the target utility curve, which lets the buyer act firm, flexible, or reciprocal without changing the safety rules.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15468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3154680"/>
            <a:ext cx="146304" cy="841248"/>
          </a:xfrm>
          <a:prstGeom prst="rect">
            <a:avLst/>
          </a:prstGeom>
          <a:solidFill>
            <a:srgbClr val="29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33756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MESO sends multiple buyer-safe offers of similar value so the supplier can reveal priorities faster without the buyer giving up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5196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4251960"/>
            <a:ext cx="146304" cy="841248"/>
          </a:xfrm>
          <a:prstGeom prst="rect">
            <a:avLst/>
          </a:prstGeom>
          <a:solidFill>
            <a:srgbClr val="D5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43484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We kept strategy switching manual in this version because explicit control is safer than over-claiming automatic policy selection.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303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746E"/>
                </a:solidFill>
                <a:latin typeface="Aptos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41248"/>
            <a:ext cx="10241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2233F"/>
                </a:solidFill>
                <a:latin typeface="Aptos Display"/>
              </a:rPr>
              <a:t>Technical choices that support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6968" y="13441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56D77"/>
                </a:solidFill>
                <a:latin typeface="Aptos"/>
              </a:rPr>
              <a:t>The implementation was designed to preserve state and keep the system inspectable.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00784"/>
            <a:ext cx="10195560" cy="18288"/>
          </a:xfrm>
          <a:prstGeom prst="rect">
            <a:avLst/>
          </a:prstGeom>
          <a:solidFill>
            <a:srgbClr val="E0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57400"/>
            <a:ext cx="146304" cy="841248"/>
          </a:xfrm>
          <a:prstGeom prst="rect">
            <a:avLst/>
          </a:prstGeom>
          <a:solidFill>
            <a:srgbClr val="29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4028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React runs the supplier flow, Spring Boot orchestrates sessions, and PostgreSQL stores sessions, offers, decisions, and strategy history.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15468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3154680"/>
            <a:ext cx="146304" cy="841248"/>
          </a:xfrm>
          <a:prstGeom prst="rect">
            <a:avLst/>
          </a:prstGeom>
          <a:solidFill>
            <a:srgbClr val="D5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33756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Each round is persisted in the database, and the chat timeline is reconstructed from stored offers and decisions.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51960"/>
            <a:ext cx="10378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4251960"/>
            <a:ext cx="146304" cy="841248"/>
          </a:xfrm>
          <a:prstGeom prst="rect">
            <a:avLst/>
          </a:prstGeom>
          <a:solidFill>
            <a:srgbClr val="297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43484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212529"/>
                </a:solidFill>
                <a:latin typeface="Aptos"/>
              </a:rPr>
              <a:t>Pessimistic locking protects concurrent session updates, which keeps the negotiation state consistent under live use.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5559552"/>
            <a:ext cx="10195560" cy="640080"/>
          </a:xfrm>
          <a:prstGeom prst="round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733288"/>
            <a:ext cx="9829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Aptos Display"/>
              </a:rPr>
              <a:t>Bottom line: we built a negotiation system that is explainable enough for procurement and structured enough for serious engineering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