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640080"/>
            <a:ext cx="3749039" cy="3749039"/>
          </a:xfrm>
          <a:prstGeom prst="ellipse">
            <a:avLst/>
          </a:prstGeom>
          <a:solidFill>
            <a:srgbClr val="EEF2F7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074920"/>
            <a:ext cx="2926080" cy="2926080"/>
          </a:xfrm>
          <a:prstGeom prst="ellipse">
            <a:avLst/>
          </a:prstGeom>
          <a:solidFill>
            <a:srgbClr val="F9E7C6"/>
          </a:solidFill>
          <a:ln w="6350">
            <a:solidFill>
              <a:srgbClr val="F9E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" y="402336"/>
            <a:ext cx="2103120" cy="274320"/>
          </a:xfrm>
          <a:prstGeom prst="roundRect">
            <a:avLst/>
          </a:prstGeom>
          <a:solidFill>
            <a:srgbClr val="F9E7C6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48056"/>
            <a:ext cx="2066543" cy="201167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C47A0A"/>
                </a:solidFill>
                <a:latin typeface="Aptos"/>
              </a:defRPr>
            </a:pPr>
            <a:r>
              <a:t>PACTUM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22960"/>
            <a:ext cx="7498079" cy="36576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53C"/>
                </a:solidFill>
                <a:latin typeface="Aptos Display"/>
              </a:defRPr>
            </a:pPr>
            <a:r>
              <a:t>Negotiator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225296"/>
            <a:ext cx="8412480" cy="20116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Aptos"/>
              </a:defRPr>
            </a:pPr>
            <a:r>
              <a:t>Deterministic multi-issue negotiation across price, payment, delivery, and contract.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" y="1536192"/>
            <a:ext cx="10991088" cy="0"/>
          </a:xfrm>
          <a:prstGeom prst="line">
            <a:avLst/>
          </a:prstGeom>
          <a:ln w="12700">
            <a:solidFill>
              <a:srgbClr val="DED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1901952"/>
            <a:ext cx="5486400" cy="54864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F2937"/>
                </a:solidFill>
                <a:latin typeface="Aptos"/>
              </a:defRPr>
            </a:pPr>
            <a:r>
              <a:t>The deck expands the math and the test evidence into separate slides so the decision system is readable end to 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761488"/>
            <a:ext cx="5358384" cy="877824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871216"/>
            <a:ext cx="5065776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253C"/>
                </a:solidFill>
                <a:latin typeface="Aptos"/>
              </a:defRPr>
            </a:pPr>
            <a:r>
              <a:t>Commercial framing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127248"/>
            <a:ext cx="5065776" cy="420623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1F2937"/>
                </a:solidFill>
                <a:latin typeface="Aptos"/>
              </a:defRPr>
            </a:pPr>
            <a:r>
              <a:t>The engine models trade-offs across four deal terms instead of treating negotiation as price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803904"/>
            <a:ext cx="5358384" cy="877824"/>
          </a:xfrm>
          <a:prstGeom prst="roundRect">
            <a:avLst/>
          </a:prstGeom>
          <a:solidFill>
            <a:srgbClr val="DDF4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913632"/>
            <a:ext cx="5065776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253C"/>
                </a:solidFill>
                <a:latin typeface="Aptos"/>
              </a:defRPr>
            </a:pPr>
            <a:r>
              <a:t>Technical framing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9664"/>
            <a:ext cx="5065776" cy="420623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1F2937"/>
                </a:solidFill>
                <a:latin typeface="Aptos"/>
              </a:defRPr>
            </a:pPr>
            <a:r>
              <a:t>AI can parse and draft language, but the authority to accept, counter, or reject stays rule-based.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846320"/>
            <a:ext cx="5358384" cy="877824"/>
          </a:xfrm>
          <a:prstGeom prst="roundRect">
            <a:avLst/>
          </a:prstGeom>
          <a:solidFill>
            <a:srgbClr val="DDF4E4"/>
          </a:solidFill>
          <a:ln w="1905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956048"/>
            <a:ext cx="5065776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253C"/>
                </a:solidFill>
                <a:latin typeface="Aptos"/>
              </a:defRPr>
            </a:pPr>
            <a:r>
              <a:t>Evaluation framing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212080"/>
            <a:ext cx="5065776" cy="420623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1F2937"/>
                </a:solidFill>
                <a:latin typeface="Aptos"/>
              </a:defRPr>
            </a:pPr>
            <a:r>
              <a:t>The same formulas are then checked in StrategySimulationMatrixTest and PriceSensitivityTest.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0256" y="1993392"/>
            <a:ext cx="4590288" cy="3840480"/>
          </a:xfrm>
          <a:prstGeom prst="roundRect">
            <a:avLst/>
          </a:prstGeom>
          <a:solidFill>
            <a:srgbClr val="18253C"/>
          </a:solidFill>
          <a:ln w="12700">
            <a:solidFill>
              <a:srgbClr val="18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12864" y="2267712"/>
            <a:ext cx="2377440" cy="20116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Decision surface</a:t>
            </a:r>
          </a:p>
        </p:txBody>
      </p:sp>
      <p:sp>
        <p:nvSpPr>
          <p:cNvPr id="21" name="Oval 20"/>
          <p:cNvSpPr/>
          <p:nvPr/>
        </p:nvSpPr>
        <p:spPr>
          <a:xfrm>
            <a:off x="8430768" y="3218688"/>
            <a:ext cx="1408176" cy="14081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8512" y="3621024"/>
            <a:ext cx="932688" cy="43891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53C"/>
                </a:solidFill>
                <a:latin typeface="Aptos"/>
              </a:defRPr>
            </a:pPr>
            <a:r>
              <a:t>Buyer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53C"/>
                </a:solidFill>
                <a:latin typeface="Aptos"/>
              </a:defRPr>
            </a:pPr>
            <a:r>
              <a:t>utility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51775" y="2670048"/>
            <a:ext cx="1042415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0063" y="2715768"/>
            <a:ext cx="1005839" cy="237744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FFFFFF"/>
                </a:solidFill>
                <a:latin typeface="Aptos"/>
              </a:defRPr>
            </a:pPr>
            <a:r>
              <a:t>Price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02368" y="2670048"/>
            <a:ext cx="1042415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6" y="2715768"/>
            <a:ext cx="1005839" cy="237744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FFFFFF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51775" y="4645152"/>
            <a:ext cx="1042415" cy="310896"/>
          </a:xfrm>
          <a:prstGeom prst="roundRect">
            <a:avLst/>
          </a:prstGeom>
          <a:solidFill>
            <a:srgbClr val="2F855A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70063" y="4690872"/>
            <a:ext cx="1005839" cy="237744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FFFFFF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2368" y="4645152"/>
            <a:ext cx="1042415" cy="310896"/>
          </a:xfrm>
          <a:prstGeom prst="roundRect">
            <a:avLst/>
          </a:prstGeom>
          <a:solidFill>
            <a:srgbClr val="C47A0A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0656" y="4690872"/>
            <a:ext cx="1005839" cy="237744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80" b="1">
                <a:solidFill>
                  <a:srgbClr val="FFFFFF"/>
                </a:solidFill>
                <a:latin typeface="Aptos"/>
              </a:defRPr>
            </a:pPr>
            <a:r>
              <a:t>Contract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63840" y="2962656"/>
            <a:ext cx="804672" cy="6035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9601200" y="2962656"/>
            <a:ext cx="713232" cy="6035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863840" y="4535424"/>
            <a:ext cx="804672" cy="109728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9601200" y="4535424"/>
            <a:ext cx="713232" cy="109728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931152" y="5376672"/>
            <a:ext cx="3877056" cy="365760"/>
          </a:xfrm>
          <a:prstGeom prst="roundRect">
            <a:avLst/>
          </a:prstGeom>
          <a:solidFill>
            <a:srgbClr val="223242"/>
          </a:solidFill>
          <a:ln w="12700">
            <a:solidFill>
              <a:srgbClr val="223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95744" y="5468112"/>
            <a:ext cx="3547872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FFFFFF"/>
                </a:solidFill>
                <a:latin typeface="Aptos"/>
              </a:defRPr>
            </a:pPr>
            <a:r>
              <a:t>Every round reduces to one comparable buyer-side score.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640080"/>
            <a:ext cx="3749039" cy="3749039"/>
          </a:xfrm>
          <a:prstGeom prst="ellipse">
            <a:avLst/>
          </a:prstGeom>
          <a:solidFill>
            <a:srgbClr val="E7F0FF"/>
          </a:solidFill>
          <a:ln w="635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074920"/>
            <a:ext cx="2926080" cy="2926080"/>
          </a:xfrm>
          <a:prstGeom prst="ellipse">
            <a:avLst/>
          </a:prstGeom>
          <a:solidFill>
            <a:srgbClr val="E8EDF6"/>
          </a:solidFill>
          <a:ln w="6350">
            <a:solidFill>
              <a:srgbClr val="E8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" y="402336"/>
            <a:ext cx="2103120" cy="274320"/>
          </a:xfrm>
          <a:prstGeom prst="roundRect">
            <a:avLst/>
          </a:prstGeom>
          <a:solidFill>
            <a:srgbClr val="F9E7C6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48056"/>
            <a:ext cx="2066543" cy="201167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C47A0A"/>
                </a:solidFill>
                <a:latin typeface="Aptos"/>
              </a:defRPr>
            </a:pPr>
            <a:r>
              <a:t>SYSTEM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22960"/>
            <a:ext cx="7498079" cy="36576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53C"/>
                </a:solidFill>
                <a:latin typeface="Aptos Display"/>
              </a:defRPr>
            </a:pPr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225296"/>
            <a:ext cx="8412480" cy="20116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Aptos"/>
              </a:defRPr>
            </a:pPr>
            <a:r>
              <a:t>Language can vary. Buyer commitments cannot.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" y="1536192"/>
            <a:ext cx="10991088" cy="0"/>
          </a:xfrm>
          <a:prstGeom prst="line">
            <a:avLst/>
          </a:prstGeom>
          <a:ln w="12700">
            <a:solidFill>
              <a:srgbClr val="DED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86384" y="1920240"/>
            <a:ext cx="1627632" cy="25603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65960"/>
            <a:ext cx="1591056" cy="182880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ptos"/>
              </a:defRPr>
            </a:pPr>
            <a:r>
              <a:t>LLM assistance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4848" y="1920240"/>
            <a:ext cx="1847088" cy="256032"/>
          </a:xfrm>
          <a:prstGeom prst="roundRect">
            <a:avLst/>
          </a:prstGeom>
          <a:solidFill>
            <a:srgbClr val="DDF4E4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03136" y="1965960"/>
            <a:ext cx="1810512" cy="182880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855A"/>
                </a:solidFill>
                <a:latin typeface="Aptos"/>
              </a:defRPr>
            </a:pPr>
            <a:r>
              <a:t>Deterministic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340864"/>
            <a:ext cx="2304288" cy="987552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450592"/>
            <a:ext cx="2011680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80" b="1">
                <a:solidFill>
                  <a:srgbClr val="18253C"/>
                </a:solidFill>
                <a:latin typeface="Aptos"/>
              </a:defRPr>
            </a:pPr>
            <a:r>
              <a:t>Parse supplier wording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706624"/>
            <a:ext cx="2011680" cy="53035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F2937"/>
                </a:solidFill>
                <a:latin typeface="Aptos"/>
              </a:defRPr>
            </a:pPr>
            <a:r>
              <a:t>Free text becomes structured terms and supplier constraints.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547872"/>
            <a:ext cx="2304288" cy="987552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657600"/>
            <a:ext cx="2011680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80" b="1">
                <a:solidFill>
                  <a:srgbClr val="18253C"/>
                </a:solidFill>
                <a:latin typeface="Aptos"/>
              </a:defRPr>
            </a:pPr>
            <a:r>
              <a:t>Classify supplier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913632"/>
            <a:ext cx="2011680" cy="53035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F2937"/>
                </a:solidFill>
                <a:latin typeface="Aptos"/>
              </a:defRPr>
            </a:pPr>
            <a:r>
              <a:t>Accept, select buyer option, propose new terms, reject, or unclear.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754880"/>
            <a:ext cx="2304288" cy="987552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864608"/>
            <a:ext cx="2011680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80" b="1">
                <a:solidFill>
                  <a:srgbClr val="18253C"/>
                </a:solidFill>
                <a:latin typeface="Aptos"/>
              </a:defRPr>
            </a:pPr>
            <a:r>
              <a:t>Draft buyer wording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120640"/>
            <a:ext cx="2011680" cy="53035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F2937"/>
                </a:solidFill>
                <a:latin typeface="Aptos"/>
              </a:defRPr>
            </a:pPr>
            <a:r>
              <a:t>Natural language is generated only after the business decision is fixed.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3273552"/>
            <a:ext cx="1700784" cy="1024128"/>
          </a:xfrm>
          <a:prstGeom prst="roundRect">
            <a:avLst/>
          </a:prstGeom>
          <a:solidFill>
            <a:srgbClr val="18253C"/>
          </a:solidFill>
          <a:ln w="12700">
            <a:solidFill>
              <a:srgbClr val="18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2" y="3584448"/>
            <a:ext cx="1335024" cy="329184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Structured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offer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2395728"/>
            <a:ext cx="2139696" cy="1005840"/>
          </a:xfrm>
          <a:prstGeom prst="roundRect">
            <a:avLst/>
          </a:prstGeom>
          <a:solidFill>
            <a:srgbClr val="DDF4E4"/>
          </a:solidFill>
          <a:ln w="1905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1424" y="2505456"/>
            <a:ext cx="1847088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0" b="1">
                <a:solidFill>
                  <a:srgbClr val="18253C"/>
                </a:solidFill>
                <a:latin typeface="Aptos"/>
              </a:defRPr>
            </a:pPr>
            <a:r>
              <a:t>Score offer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424" y="2761488"/>
            <a:ext cx="1847088" cy="54864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F2937"/>
                </a:solidFill>
                <a:latin typeface="Aptos"/>
              </a:defRPr>
            </a:pPr>
            <a:r>
              <a:t>Buyer utility across four issues.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89136" y="2395728"/>
            <a:ext cx="2139696" cy="1005840"/>
          </a:xfrm>
          <a:prstGeom prst="roundRect">
            <a:avLst/>
          </a:prstGeom>
          <a:solidFill>
            <a:srgbClr val="DDF4E4"/>
          </a:solidFill>
          <a:ln w="1905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2505456"/>
            <a:ext cx="1847088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0" b="1">
                <a:solidFill>
                  <a:srgbClr val="18253C"/>
                </a:solidFill>
                <a:latin typeface="Aptos"/>
              </a:defRPr>
            </a:pPr>
            <a:r>
              <a:t>Apply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761488"/>
            <a:ext cx="1847088" cy="54864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F2937"/>
                </a:solidFill>
                <a:latin typeface="Aptos"/>
              </a:defRPr>
            </a:pPr>
            <a:r>
              <a:t>Round target, reservation checks, and settlement posture.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82127" y="3986784"/>
            <a:ext cx="2139696" cy="1005840"/>
          </a:xfrm>
          <a:prstGeom prst="roundRect">
            <a:avLst/>
          </a:prstGeom>
          <a:solidFill>
            <a:srgbClr val="DDF4E4"/>
          </a:solidFill>
          <a:ln w="1905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28431" y="4096512"/>
            <a:ext cx="1847088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0" b="1">
                <a:solidFill>
                  <a:srgbClr val="18253C"/>
                </a:solidFill>
                <a:latin typeface="Aptos"/>
              </a:defRPr>
            </a:pPr>
            <a:r>
              <a:t>Choose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1" y="4352544"/>
            <a:ext cx="1847088" cy="54864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F2937"/>
                </a:solidFill>
                <a:latin typeface="Aptos"/>
              </a:defRPr>
            </a:pPr>
            <a:r>
              <a:t>Accept, reject, or return one or more buyer-safe counters.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054096" y="2834640"/>
            <a:ext cx="859536" cy="932688"/>
          </a:xfrm>
          <a:prstGeom prst="line">
            <a:avLst/>
          </a:prstGeom>
          <a:ln w="25400">
            <a:solidFill>
              <a:srgbClr val="1825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054096" y="3767328"/>
            <a:ext cx="859536" cy="274320"/>
          </a:xfrm>
          <a:prstGeom prst="line">
            <a:avLst/>
          </a:prstGeom>
          <a:ln w="25400">
            <a:solidFill>
              <a:srgbClr val="1825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054096" y="3767328"/>
            <a:ext cx="859536" cy="1481328"/>
          </a:xfrm>
          <a:prstGeom prst="line">
            <a:avLst/>
          </a:prstGeom>
          <a:ln w="25400">
            <a:solidFill>
              <a:srgbClr val="1825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614416" y="2907792"/>
            <a:ext cx="1060704" cy="859536"/>
          </a:xfrm>
          <a:prstGeom prst="line">
            <a:avLst/>
          </a:prstGeom>
          <a:ln w="25400">
            <a:solidFill>
              <a:srgbClr val="1825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614416" y="2907792"/>
            <a:ext cx="3474720" cy="859536"/>
          </a:xfrm>
          <a:prstGeom prst="line">
            <a:avLst/>
          </a:prstGeom>
          <a:ln w="25400">
            <a:solidFill>
              <a:srgbClr val="1825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54112" y="3401568"/>
            <a:ext cx="694944" cy="585216"/>
          </a:xfrm>
          <a:prstGeom prst="line">
            <a:avLst/>
          </a:prstGeom>
          <a:ln w="25400">
            <a:solidFill>
              <a:srgbClr val="1825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9473184" y="3401568"/>
            <a:ext cx="694944" cy="585216"/>
          </a:xfrm>
          <a:prstGeom prst="line">
            <a:avLst/>
          </a:prstGeom>
          <a:ln w="25400">
            <a:solidFill>
              <a:srgbClr val="1825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620256" y="5431536"/>
            <a:ext cx="457200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84848" y="5596128"/>
            <a:ext cx="4242816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1">
                <a:solidFill>
                  <a:srgbClr val="18253C"/>
                </a:solidFill>
                <a:latin typeface="Aptos"/>
              </a:defRPr>
            </a:pPr>
            <a:r>
              <a:t>AI parses and drafts. The engine scores, constrains, and decides.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640080"/>
            <a:ext cx="3749039" cy="3749039"/>
          </a:xfrm>
          <a:prstGeom prst="ellipse">
            <a:avLst/>
          </a:prstGeom>
          <a:solidFill>
            <a:srgbClr val="E8EDF6"/>
          </a:solidFill>
          <a:ln w="6350">
            <a:solidFill>
              <a:srgbClr val="E8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074920"/>
            <a:ext cx="2926080" cy="2926080"/>
          </a:xfrm>
          <a:prstGeom prst="ellipse">
            <a:avLst/>
          </a:prstGeom>
          <a:solidFill>
            <a:srgbClr val="DDF4F1"/>
          </a:solidFill>
          <a:ln w="635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" y="402336"/>
            <a:ext cx="2103120" cy="274320"/>
          </a:xfrm>
          <a:prstGeom prst="roundRect">
            <a:avLst/>
          </a:prstGeom>
          <a:solidFill>
            <a:srgbClr val="F9E7C6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48056"/>
            <a:ext cx="2066543" cy="201167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C47A0A"/>
                </a:solidFill>
                <a:latin typeface="Aptos"/>
              </a:defRPr>
            </a:pPr>
            <a:r>
              <a:t>CODE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22960"/>
            <a:ext cx="7498079" cy="36576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53C"/>
                </a:solidFill>
                <a:latin typeface="Aptos Display"/>
              </a:defRPr>
            </a:pPr>
            <a:r>
              <a:t>Where The Logic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225296"/>
            <a:ext cx="8412480" cy="20116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Aptos"/>
              </a:defRPr>
            </a:pPr>
            <a:r>
              <a:t>The math and the orchestration are split across small single-purpose classes.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" y="1536192"/>
            <a:ext cx="10991088" cy="0"/>
          </a:xfrm>
          <a:prstGeom prst="line">
            <a:avLst/>
          </a:prstGeom>
          <a:ln w="12700">
            <a:solidFill>
              <a:srgbClr val="DED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68096" y="1975104"/>
          <a:ext cx="6583680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425696"/>
              </a:tblGrid>
              <a:tr h="530352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Class</a:t>
                      </a:r>
                    </a:p>
                  </a:txBody>
                  <a:tcPr marL="45720" marR="45720" marT="18288" marB="18288">
                    <a:solidFill>
                      <a:srgbClr val="18253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 marL="45720" marR="45720" marT="18288" marB="18288">
                    <a:solidFill>
                      <a:srgbClr val="18253C"/>
                    </a:solidFill>
                  </a:tcPr>
                </a:tc>
              </a:tr>
              <a:tr h="530352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4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NegotiationEngine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Owns the records and enums: OfferVector, BuyerProfile, Context, Strategy, Response.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4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BuyerPreferenceScoring</a:t>
                      </a:r>
                    </a:p>
                  </a:txBody>
                  <a:tcPr marL="45720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Normalizes each issue into a [0,1] buyer preference score.</a:t>
                      </a:r>
                    </a:p>
                  </a:txBody>
                  <a:tcPr marL="45720" marR="45720" marT="18288" marB="18288"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4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BuyerUtilityCalculator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Aggregates weighted issue scores into U_buyer.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40" b="1">
                          <a:solidFill>
                            <a:srgbClr val="0F766E"/>
                          </a:solidFill>
                          <a:latin typeface="Consolas"/>
                        </a:defRPr>
                      </a:pPr>
                      <a:r>
                        <a:t>DecisionMaker</a:t>
                      </a:r>
                    </a:p>
                  </a:txBody>
                  <a:tcPr marL="45720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Computes round target utility and hard reject threshold.</a:t>
                      </a:r>
                    </a:p>
                  </a:txBody>
                  <a:tcPr marL="45720" marR="45720" marT="18288" marB="18288"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40" b="1">
                          <a:solidFill>
                            <a:srgbClr val="0F766E"/>
                          </a:solidFill>
                          <a:latin typeface="Consolas"/>
                        </a:defRPr>
                      </a:pPr>
                      <a:r>
                        <a:t>StrategySettlementPolicy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Adds strategy floors and price ceilings before acceptance.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40" b="1">
                          <a:solidFill>
                            <a:srgbClr val="0F766E"/>
                          </a:solidFill>
                          <a:latin typeface="Consolas"/>
                        </a:defRPr>
                      </a:pPr>
                      <a:r>
                        <a:t>CounterOfferGenerator</a:t>
                      </a:r>
                    </a:p>
                  </a:txBody>
                  <a:tcPr marL="45720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Ranks gaps and generates next buyer-safe moves.</a:t>
                      </a:r>
                    </a:p>
                  </a:txBody>
                  <a:tcPr marL="45720" marR="45720" marT="18288" marB="18288"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40" b="1">
                          <a:solidFill>
                            <a:srgbClr val="0F766E"/>
                          </a:solidFill>
                          <a:latin typeface="Consolas"/>
                        </a:defRPr>
                      </a:pPr>
                      <a:r>
                        <a:t>NegotiationApplicationService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Handles session state, supplier intent, and explicit acceptance semantics.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35824" y="2048256"/>
            <a:ext cx="3675887" cy="786384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8" y="2157984"/>
            <a:ext cx="3383279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253C"/>
                </a:solidFill>
                <a:latin typeface="Aptos"/>
              </a:defRPr>
            </a:pPr>
            <a:r>
              <a:t>OfferVector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8" y="2414016"/>
            <a:ext cx="3383279" cy="329184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F2937"/>
                </a:solidFill>
                <a:latin typeface="Aptos"/>
              </a:defRPr>
            </a:pPr>
            <a:r>
              <a:t>price, paymentDays, deliveryDays, contractMonths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5824" y="2980944"/>
            <a:ext cx="3675887" cy="786384"/>
          </a:xfrm>
          <a:prstGeom prst="roundRect">
            <a:avLst/>
          </a:prstGeom>
          <a:solidFill>
            <a:srgbClr val="DDF4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2128" y="3090672"/>
            <a:ext cx="3383279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253C"/>
                </a:solidFill>
                <a:latin typeface="Aptos"/>
              </a:defRPr>
            </a:pPr>
            <a:r>
              <a:t>IssueWeights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3346704"/>
            <a:ext cx="3383279" cy="329184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F2937"/>
                </a:solidFill>
                <a:latin typeface="Aptos"/>
              </a:defRPr>
            </a:pPr>
            <a:r>
              <a:t>relative issue importance before normalization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35824" y="3913632"/>
            <a:ext cx="3675887" cy="786384"/>
          </a:xfrm>
          <a:prstGeom prst="roundRect">
            <a:avLst/>
          </a:prstGeom>
          <a:solidFill>
            <a:srgbClr val="DDF4E4"/>
          </a:solidFill>
          <a:ln w="1905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8" y="4023360"/>
            <a:ext cx="3383279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253C"/>
                </a:solidFill>
                <a:latin typeface="Aptos"/>
              </a:defRPr>
            </a:pPr>
            <a:r>
              <a:t>BuyerProfile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4279392"/>
            <a:ext cx="3383279" cy="329184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F2937"/>
                </a:solidFill>
                <a:latin typeface="Aptos"/>
              </a:defRPr>
            </a:pPr>
            <a:r>
              <a:t>ideal offer + reservation offer + weights + reservationUtility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35824" y="4846320"/>
            <a:ext cx="3675887" cy="786384"/>
          </a:xfrm>
          <a:prstGeom prst="roundRect">
            <a:avLst/>
          </a:prstGeom>
          <a:solidFill>
            <a:srgbClr val="F9E7C6"/>
          </a:solidFill>
          <a:ln w="1905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2128" y="4956048"/>
            <a:ext cx="3383279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253C"/>
                </a:solidFill>
                <a:latin typeface="Aptos"/>
              </a:defRPr>
            </a:pPr>
            <a:r>
              <a:t>NegotiationContext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5212080"/>
            <a:ext cx="3383279" cy="329184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F2937"/>
                </a:solidFill>
                <a:latin typeface="Aptos"/>
              </a:defRPr>
            </a:pPr>
            <a:r>
              <a:t>round, maxRounds, strategy, state,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35824" y="5669280"/>
            <a:ext cx="3675887" cy="310896"/>
          </a:xfrm>
          <a:prstGeom prst="roundRect">
            <a:avLst/>
          </a:prstGeom>
          <a:solidFill>
            <a:srgbClr val="18253C"/>
          </a:solidFill>
          <a:ln w="12700">
            <a:solidFill>
              <a:srgbClr val="18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7" y="5742432"/>
            <a:ext cx="3383280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The engine decision is a function of these records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640080"/>
            <a:ext cx="3749039" cy="3749039"/>
          </a:xfrm>
          <a:prstGeom prst="ellipse">
            <a:avLst/>
          </a:prstGeom>
          <a:solidFill>
            <a:srgbClr val="DDF4F1"/>
          </a:solidFill>
          <a:ln w="635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074920"/>
            <a:ext cx="2926080" cy="2926080"/>
          </a:xfrm>
          <a:prstGeom prst="ellipse">
            <a:avLst/>
          </a:prstGeom>
          <a:solidFill>
            <a:srgbClr val="EEF2F7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" y="402336"/>
            <a:ext cx="2103120" cy="274320"/>
          </a:xfrm>
          <a:prstGeom prst="roundRect">
            <a:avLst/>
          </a:prstGeom>
          <a:solidFill>
            <a:srgbClr val="F9E7C6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48056"/>
            <a:ext cx="2066543" cy="201167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C47A0A"/>
                </a:solidFill>
                <a:latin typeface="Aptos"/>
              </a:defRPr>
            </a:pPr>
            <a:r>
              <a:t>MATHEMATICAL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22960"/>
            <a:ext cx="7498079" cy="36576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53C"/>
                </a:solidFill>
                <a:latin typeface="Aptos Display"/>
              </a:defRPr>
            </a:pPr>
            <a:r>
              <a:t>Issue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225296"/>
            <a:ext cx="8412480" cy="20116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Aptos"/>
              </a:defRPr>
            </a:pPr>
            <a:r>
              <a:t>Each issue is mapped onto the same buyer-side scale before weighting.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" y="1536192"/>
            <a:ext cx="10991088" cy="0"/>
          </a:xfrm>
          <a:prstGeom prst="line">
            <a:avLst/>
          </a:prstGeom>
          <a:ln w="12700">
            <a:solidFill>
              <a:srgbClr val="DED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68096" y="1993392"/>
            <a:ext cx="5266944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121408"/>
            <a:ext cx="1078992" cy="219456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167128"/>
            <a:ext cx="1042415" cy="146303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ptos"/>
              </a:defRPr>
            </a:pPr>
            <a:r>
              <a:t>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4919472" cy="31089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F2937"/>
                </a:solidFill>
                <a:latin typeface="Consolas"/>
              </a:defRPr>
            </a:pPr>
            <a:r>
              <a:t>priceScore = clamp((reservationPrice - offerPrice) / (reservationPrice - idealPrice))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889504"/>
            <a:ext cx="4882896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B7280"/>
                </a:solidFill>
                <a:latin typeface="Aptos"/>
              </a:defRPr>
            </a:pPr>
            <a:r>
              <a:t>Higher score always means better for the buyer.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993392"/>
            <a:ext cx="5266944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2784" y="2121408"/>
            <a:ext cx="1078992" cy="219456"/>
          </a:xfrm>
          <a:prstGeom prst="roundRect">
            <a:avLst/>
          </a:prstGeom>
          <a:solidFill>
            <a:srgbClr val="DDF4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167128"/>
            <a:ext cx="1042415" cy="146303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766E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487168"/>
            <a:ext cx="4919472" cy="31089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F2937"/>
                </a:solidFill>
                <a:latin typeface="Consolas"/>
              </a:defRPr>
            </a:pPr>
            <a:r>
              <a:t>paymentScore = clamp((offerPayment - reservationPayment) / (idealPayment - reservationPayment))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889504"/>
            <a:ext cx="4882896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B7280"/>
                </a:solidFill>
                <a:latin typeface="Aptos"/>
              </a:defRPr>
            </a:pPr>
            <a:r>
              <a:t>Higher score always means better for the buyer.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3694176"/>
            <a:ext cx="5266944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3822191"/>
            <a:ext cx="1078992" cy="219456"/>
          </a:xfrm>
          <a:prstGeom prst="roundRect">
            <a:avLst/>
          </a:prstGeom>
          <a:solidFill>
            <a:srgbClr val="DDF4E4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867911"/>
            <a:ext cx="1042415" cy="146303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855A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87952"/>
            <a:ext cx="4919472" cy="31089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F2937"/>
                </a:solidFill>
                <a:latin typeface="Consolas"/>
              </a:defRPr>
            </a:pPr>
            <a:r>
              <a:t>deliveryScore = clamp((reservationDelivery - offerDelivery) / (reservationDelivery - idealDelivery))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590288"/>
            <a:ext cx="4882896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B7280"/>
                </a:solidFill>
                <a:latin typeface="Aptos"/>
              </a:defRPr>
            </a:pPr>
            <a:r>
              <a:t>Higher score always means better for the buyer.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694176"/>
            <a:ext cx="5266944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72784" y="3822191"/>
            <a:ext cx="1078992" cy="219456"/>
          </a:xfrm>
          <a:prstGeom prst="roundRect">
            <a:avLst/>
          </a:prstGeom>
          <a:solidFill>
            <a:srgbClr val="F9E7C6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3867911"/>
            <a:ext cx="1042415" cy="146303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47A0A"/>
                </a:solidFill>
                <a:latin typeface="Aptos"/>
              </a:defRPr>
            </a:pPr>
            <a:r>
              <a:t>Contract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4187952"/>
            <a:ext cx="4919472" cy="31089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F2937"/>
                </a:solidFill>
                <a:latin typeface="Consolas"/>
              </a:defRPr>
            </a:pPr>
            <a:r>
              <a:t>contractScore = clamp((reservationContract - offerContract) / (reservationContract - idealContract))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4590288"/>
            <a:ext cx="4882896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B7280"/>
                </a:solidFill>
                <a:latin typeface="Aptos"/>
              </a:defRPr>
            </a:pPr>
            <a:r>
              <a:t>Higher score always means better for the buyer.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" y="5431536"/>
            <a:ext cx="10625328" cy="512064"/>
          </a:xfrm>
          <a:prstGeom prst="roundRect">
            <a:avLst/>
          </a:prstGeom>
          <a:solidFill>
            <a:srgbClr val="18253C"/>
          </a:solidFill>
          <a:ln w="12700">
            <a:solidFill>
              <a:srgbClr val="18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5559552"/>
            <a:ext cx="10222992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  <a:latin typeface="Aptos"/>
              </a:defRPr>
            </a:pPr>
            <a:r>
              <a:t>Direction matters: lower price is better, longer payment is better, faster delivery is better, shorter contract is better.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640080"/>
            <a:ext cx="3749039" cy="3749039"/>
          </a:xfrm>
          <a:prstGeom prst="ellipse">
            <a:avLst/>
          </a:prstGeom>
          <a:solidFill>
            <a:srgbClr val="E8EDF6"/>
          </a:solidFill>
          <a:ln w="6350">
            <a:solidFill>
              <a:srgbClr val="E8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074920"/>
            <a:ext cx="2926080" cy="2926080"/>
          </a:xfrm>
          <a:prstGeom prst="ellipse">
            <a:avLst/>
          </a:prstGeom>
          <a:solidFill>
            <a:srgbClr val="F9E7C6"/>
          </a:solidFill>
          <a:ln w="6350">
            <a:solidFill>
              <a:srgbClr val="F9E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" y="402336"/>
            <a:ext cx="2103120" cy="274320"/>
          </a:xfrm>
          <a:prstGeom prst="roundRect">
            <a:avLst/>
          </a:prstGeom>
          <a:solidFill>
            <a:srgbClr val="F9E7C6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48056"/>
            <a:ext cx="2066543" cy="201167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C47A0A"/>
                </a:solidFill>
                <a:latin typeface="Aptos"/>
              </a:defRPr>
            </a:pPr>
            <a:r>
              <a:t>UTILITY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22960"/>
            <a:ext cx="7498079" cy="36576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53C"/>
                </a:solidFill>
                <a:latin typeface="Aptos Display"/>
              </a:defRPr>
            </a:pPr>
            <a:r>
              <a:t>Weighted Aggregation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225296"/>
            <a:ext cx="8412480" cy="20116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Aptos"/>
              </a:defRPr>
            </a:pPr>
            <a:r>
              <a:t>After normalization, the engine turns four issue scores into one buyer utility value.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" y="1536192"/>
            <a:ext cx="10991088" cy="0"/>
          </a:xfrm>
          <a:prstGeom prst="line">
            <a:avLst/>
          </a:prstGeom>
          <a:ln w="12700">
            <a:solidFill>
              <a:srgbClr val="DED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8" y="1920240"/>
            <a:ext cx="5285232" cy="36210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03120"/>
            <a:ext cx="2194560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53C"/>
                </a:solidFill>
                <a:latin typeface="Aptos"/>
              </a:defRPr>
            </a:pPr>
            <a:r>
              <a:t>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523744"/>
            <a:ext cx="4809744" cy="6217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2937"/>
                </a:solidFill>
                <a:latin typeface="Consolas"/>
              </a:defRPr>
            </a:pPr>
            <a:r>
              <a:t>U_buyer = w_price * priceScore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2937"/>
                </a:solidFill>
                <a:latin typeface="Consolas"/>
              </a:defRPr>
            </a:pPr>
            <a:r>
              <a:t>        + w_payment * paymentScore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2937"/>
                </a:solidFill>
                <a:latin typeface="Consolas"/>
              </a:defRPr>
            </a:pPr>
            <a:r>
              <a:t>        + w_delivery * deliveryScore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F2937"/>
                </a:solidFill>
                <a:latin typeface="Consolas"/>
              </a:defRPr>
            </a:pPr>
            <a:r>
              <a:t>        + w_contract * contractScore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383280"/>
            <a:ext cx="4700016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6B7280"/>
                </a:solidFill>
                <a:latin typeface="Aptos"/>
              </a:defRPr>
            </a:pPr>
            <a:r>
              <a:t>Weights are normalized first, so only their proportions matter.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3822191"/>
            <a:ext cx="4882896" cy="493776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931920"/>
            <a:ext cx="4590288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80" b="1">
                <a:solidFill>
                  <a:srgbClr val="18253C"/>
                </a:solidFill>
                <a:latin typeface="Aptos"/>
              </a:defRPr>
            </a:pPr>
            <a:r>
              <a:t>Default 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87952"/>
            <a:ext cx="4590288" cy="3657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F2937"/>
                </a:solidFill>
                <a:latin typeface="Aptos"/>
              </a:defRPr>
            </a:pPr>
            <a:r>
              <a:t>price 0.40 | payment 0.20 | delivery 0.25 | contract 0.15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4389120"/>
            <a:ext cx="4882896" cy="493776"/>
          </a:xfrm>
          <a:prstGeom prst="roundRect">
            <a:avLst/>
          </a:prstGeom>
          <a:solidFill>
            <a:srgbClr val="DDF4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98848"/>
            <a:ext cx="4590288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80" b="1">
                <a:solidFill>
                  <a:srgbClr val="18253C"/>
                </a:solidFill>
                <a:latin typeface="Aptos"/>
              </a:defRPr>
            </a:pPr>
            <a:r>
              <a:t>Example offer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4590288" cy="3657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F2937"/>
                </a:solidFill>
                <a:latin typeface="Aptos"/>
              </a:defRPr>
            </a:pPr>
            <a:r>
              <a:t>price 108 | payment 45 | delivery 14 | contract 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" y="4956048"/>
            <a:ext cx="4882896" cy="493776"/>
          </a:xfrm>
          <a:prstGeom prst="roundRect">
            <a:avLst/>
          </a:prstGeom>
          <a:solidFill>
            <a:srgbClr val="DDF4E4"/>
          </a:solidFill>
          <a:ln w="1905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065776"/>
            <a:ext cx="4590288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80" b="1">
                <a:solidFill>
                  <a:srgbClr val="18253C"/>
                </a:solidFill>
                <a:latin typeface="Aptos"/>
              </a:defRPr>
            </a:pPr>
            <a:r>
              <a:t>Approx 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21808"/>
            <a:ext cx="4590288" cy="3657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F2937"/>
                </a:solidFill>
                <a:latin typeface="Aptos"/>
              </a:defRPr>
            </a:pPr>
            <a:r>
              <a:t>price 0.40 | payment 0.50 | delivery 0.70 | contract 0.67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45936" y="1920240"/>
            <a:ext cx="5065776" cy="36210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103120"/>
            <a:ext cx="2560320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53C"/>
                </a:solidFill>
                <a:latin typeface="Aptos"/>
              </a:defRPr>
            </a:pPr>
            <a:r>
              <a:t>Worked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505456"/>
            <a:ext cx="4572000" cy="98755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F2937"/>
                </a:solidFill>
                <a:latin typeface="Consolas"/>
              </a:defRPr>
            </a:pPr>
            <a:r>
              <a:t>U = 0.40*0.40 + 0.20*0.50 + 0.25*0.70 + 0.15*0.67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F2937"/>
                </a:solidFill>
                <a:latin typeface="Consolas"/>
              </a:defRPr>
            </a:pPr>
            <a:r>
              <a:t>  = 0.160 + 0.100 + 0.175 + 0.100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F2937"/>
                </a:solidFill>
                <a:latin typeface="Consolas"/>
              </a:defRPr>
            </a:pPr>
            <a:r>
              <a:t>  = 0.535 approx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3822191"/>
            <a:ext cx="4535424" cy="566928"/>
          </a:xfrm>
          <a:prstGeom prst="roundRect">
            <a:avLst/>
          </a:prstGeom>
          <a:solidFill>
            <a:srgbClr val="E8EDF6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3968496"/>
            <a:ext cx="4206240" cy="20116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40" b="1">
                <a:solidFill>
                  <a:srgbClr val="18253C"/>
                </a:solidFill>
                <a:latin typeface="Aptos"/>
              </a:defRPr>
            </a:pPr>
            <a:r>
              <a:t>The supplier offer is not terrible, but it is still below a strong early-round target.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608576"/>
            <a:ext cx="4535424" cy="566928"/>
          </a:xfrm>
          <a:prstGeom prst="roundRect">
            <a:avLst/>
          </a:prstGeom>
          <a:solidFill>
            <a:srgbClr val="18253C"/>
          </a:solidFill>
          <a:ln w="12700">
            <a:solidFill>
              <a:srgbClr val="18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773168"/>
            <a:ext cx="4169663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FFFFFF"/>
                </a:solidFill>
                <a:latin typeface="Aptos"/>
              </a:defRPr>
            </a:pPr>
            <a:r>
              <a:t>This additive model is simple, explainable, and easy to tune.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640080"/>
            <a:ext cx="3749039" cy="3749039"/>
          </a:xfrm>
          <a:prstGeom prst="ellipse">
            <a:avLst/>
          </a:prstGeom>
          <a:solidFill>
            <a:srgbClr val="E7F0FF"/>
          </a:solidFill>
          <a:ln w="635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074920"/>
            <a:ext cx="2926080" cy="2926080"/>
          </a:xfrm>
          <a:prstGeom prst="ellipse">
            <a:avLst/>
          </a:prstGeom>
          <a:solidFill>
            <a:srgbClr val="E8EDF6"/>
          </a:solidFill>
          <a:ln w="6350">
            <a:solidFill>
              <a:srgbClr val="E8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" y="402336"/>
            <a:ext cx="2103120" cy="274320"/>
          </a:xfrm>
          <a:prstGeom prst="roundRect">
            <a:avLst/>
          </a:prstGeom>
          <a:solidFill>
            <a:srgbClr val="F9E7C6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48056"/>
            <a:ext cx="2066543" cy="201167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C47A0A"/>
                </a:solidFill>
                <a:latin typeface="Aptos"/>
              </a:defRPr>
            </a:pPr>
            <a:r>
              <a:t>DECISION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22960"/>
            <a:ext cx="7498079" cy="36576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53C"/>
                </a:solidFill>
                <a:latin typeface="Aptos Display"/>
              </a:defRPr>
            </a:pPr>
            <a:r>
              <a:t>Acceptance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225296"/>
            <a:ext cx="8412480" cy="20116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Aptos"/>
              </a:defRPr>
            </a:pPr>
            <a:r>
              <a:t>The engine evaluates offers in layers instead of one giant rule.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" y="1536192"/>
            <a:ext cx="10991088" cy="0"/>
          </a:xfrm>
          <a:prstGeom prst="line">
            <a:avLst/>
          </a:prstGeom>
          <a:ln w="12700">
            <a:solidFill>
              <a:srgbClr val="DED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68096" y="2212848"/>
            <a:ext cx="2103120" cy="1975104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22576"/>
            <a:ext cx="1810511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18253C"/>
                </a:solidFill>
                <a:latin typeface="Aptos"/>
              </a:defRPr>
            </a:pPr>
            <a:r>
              <a:t>1. Reservation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1810511" cy="1517904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1F2937"/>
                </a:solidFill>
                <a:latin typeface="Aptos"/>
              </a:defRPr>
            </a:pPr>
            <a:r>
              <a:t>If the offer is too far outside buyer limits, reject immediately.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71215" y="3182112"/>
            <a:ext cx="182881" cy="0"/>
          </a:xfrm>
          <a:prstGeom prst="line">
            <a:avLst/>
          </a:prstGeom>
          <a:ln w="254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35808" y="2212848"/>
            <a:ext cx="2103120" cy="1975104"/>
          </a:xfrm>
          <a:prstGeom prst="roundRect">
            <a:avLst/>
          </a:prstGeom>
          <a:solidFill>
            <a:srgbClr val="DDF4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2322576"/>
            <a:ext cx="1810511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18253C"/>
                </a:solidFill>
                <a:latin typeface="Aptos"/>
              </a:defRPr>
            </a:pPr>
            <a:r>
              <a:t>2. Buyer utility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2578608"/>
            <a:ext cx="1810511" cy="1517904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1F2937"/>
                </a:solidFill>
                <a:latin typeface="Aptos"/>
              </a:defRPr>
            </a:pPr>
            <a:r>
              <a:t>Calculate U_buyer from the normalized weighted model.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38927" y="3182112"/>
            <a:ext cx="182881" cy="0"/>
          </a:xfrm>
          <a:prstGeom prst="line">
            <a:avLst/>
          </a:prstGeom>
          <a:ln w="254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03520" y="2212848"/>
            <a:ext cx="2103120" cy="1975104"/>
          </a:xfrm>
          <a:prstGeom prst="roundRect">
            <a:avLst/>
          </a:prstGeom>
          <a:solidFill>
            <a:srgbClr val="F9E7C6"/>
          </a:solidFill>
          <a:ln w="1905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9824" y="2322576"/>
            <a:ext cx="1810511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18253C"/>
                </a:solidFill>
                <a:latin typeface="Aptos"/>
              </a:defRPr>
            </a:pPr>
            <a:r>
              <a:t>3. Round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2578608"/>
            <a:ext cx="1810511" cy="1517904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1F2937"/>
                </a:solidFill>
                <a:latin typeface="Aptos"/>
              </a:defRPr>
            </a:pPr>
            <a:r>
              <a:t>targetUtility = max(strategyCurve(round), reservationUtility).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06640" y="3182112"/>
            <a:ext cx="182880" cy="0"/>
          </a:xfrm>
          <a:prstGeom prst="line">
            <a:avLst/>
          </a:prstGeom>
          <a:ln w="254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71231" y="2212848"/>
            <a:ext cx="2103120" cy="1975104"/>
          </a:xfrm>
          <a:prstGeom prst="roundRect">
            <a:avLst/>
          </a:prstGeom>
          <a:solidFill>
            <a:srgbClr val="DDF4E4"/>
          </a:solidFill>
          <a:ln w="1905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6" y="2322576"/>
            <a:ext cx="1810511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18253C"/>
                </a:solidFill>
                <a:latin typeface="Aptos"/>
              </a:defRPr>
            </a:pPr>
            <a:r>
              <a:t>4. Settlement posture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2578608"/>
            <a:ext cx="1810511" cy="1517904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1F2937"/>
                </a:solidFill>
                <a:latin typeface="Aptos"/>
              </a:defRPr>
            </a:pPr>
            <a:r>
              <a:t>minimumUtility and maximumPrice add a stricter settlement gate.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74351" y="3182112"/>
            <a:ext cx="182881" cy="0"/>
          </a:xfrm>
          <a:prstGeom prst="line">
            <a:avLst/>
          </a:prstGeom>
          <a:ln w="254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38944" y="2212848"/>
            <a:ext cx="2103120" cy="1975104"/>
          </a:xfrm>
          <a:prstGeom prst="roundRect">
            <a:avLst/>
          </a:prstGeom>
          <a:solidFill>
            <a:srgbClr val="F9DFE7"/>
          </a:solidFill>
          <a:ln w="19050">
            <a:solidFill>
              <a:srgbClr val="C24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2322576"/>
            <a:ext cx="1810511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18253C"/>
                </a:solidFill>
                <a:latin typeface="Aptos"/>
              </a:defRPr>
            </a:pPr>
            <a:r>
              <a:t>5.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2578608"/>
            <a:ext cx="1810511" cy="1517904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1F2937"/>
                </a:solidFill>
                <a:latin typeface="Aptos"/>
              </a:defRPr>
            </a:pPr>
            <a:r>
              <a:t>Accept, counter, or reject based on those combined conditions.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" y="4681728"/>
            <a:ext cx="539496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4882896"/>
            <a:ext cx="2468880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53C"/>
                </a:solidFill>
                <a:latin typeface="Aptos"/>
              </a:defRPr>
            </a:pPr>
            <a:r>
              <a:t>Core decision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5230368"/>
            <a:ext cx="4937760" cy="31089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1F2937"/>
                </a:solidFill>
                <a:latin typeface="Consolas"/>
              </a:defRPr>
            </a:pPr>
            <a:r>
              <a:t>if U_buyer &gt;= target and price &lt;= maxPrice -&gt; ACCEPT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1F2937"/>
                </a:solidFill>
                <a:latin typeface="Consolas"/>
              </a:defRPr>
            </a:pPr>
            <a:r>
              <a:t>else if final round -&gt; REJECT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1F2937"/>
                </a:solidFill>
                <a:latin typeface="Consolas"/>
              </a:defRPr>
            </a:pPr>
            <a:r>
              <a:t>else -&gt; COUNTER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681728"/>
            <a:ext cx="5010912" cy="1024128"/>
          </a:xfrm>
          <a:prstGeom prst="roundRect">
            <a:avLst/>
          </a:prstGeom>
          <a:solidFill>
            <a:srgbClr val="18253C"/>
          </a:solidFill>
          <a:ln w="12700">
            <a:solidFill>
              <a:srgbClr val="18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0256" y="4882896"/>
            <a:ext cx="2468880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Important nuance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5212080"/>
            <a:ext cx="4590288" cy="329184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FFFFFF"/>
                </a:solidFill>
                <a:latin typeface="Aptos"/>
              </a:defRPr>
            </a:pPr>
            <a:r>
              <a:t>An offer can clear the round target and still fail the strategy settlement policy if the price ceiling or utility floor is not met.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640080"/>
            <a:ext cx="3749039" cy="3749039"/>
          </a:xfrm>
          <a:prstGeom prst="ellipse">
            <a:avLst/>
          </a:prstGeom>
          <a:solidFill>
            <a:srgbClr val="DDF4E4"/>
          </a:solidFill>
          <a:ln w="6350">
            <a:solidFill>
              <a:srgbClr val="DDF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074920"/>
            <a:ext cx="2926080" cy="2926080"/>
          </a:xfrm>
          <a:prstGeom prst="ellipse">
            <a:avLst/>
          </a:prstGeom>
          <a:solidFill>
            <a:srgbClr val="DDF4F1"/>
          </a:solidFill>
          <a:ln w="6350">
            <a:solidFill>
              <a:srgbClr val="DD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" y="402336"/>
            <a:ext cx="2103120" cy="274320"/>
          </a:xfrm>
          <a:prstGeom prst="roundRect">
            <a:avLst/>
          </a:prstGeom>
          <a:solidFill>
            <a:srgbClr val="F9E7C6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48056"/>
            <a:ext cx="2066543" cy="201167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C47A0A"/>
                </a:solidFill>
                <a:latin typeface="Aptos"/>
              </a:defRPr>
            </a:pPr>
            <a:r>
              <a:t>STRATEGY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22960"/>
            <a:ext cx="7498079" cy="36576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53C"/>
                </a:solidFill>
                <a:latin typeface="Aptos Display"/>
              </a:defRPr>
            </a:pPr>
            <a:r>
              <a:t>Curves And Settlement Thresholds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225296"/>
            <a:ext cx="8412480" cy="20116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Aptos"/>
              </a:defRPr>
            </a:pPr>
            <a:r>
              <a:t>DecisionMaker and StrategySettlementPolicy turn business posture into numeric thresholds.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" y="1536192"/>
            <a:ext cx="10991088" cy="0"/>
          </a:xfrm>
          <a:prstGeom prst="line">
            <a:avLst/>
          </a:prstGeom>
          <a:ln w="12700">
            <a:solidFill>
              <a:srgbClr val="DED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8" y="1938528"/>
            <a:ext cx="5541264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21408"/>
            <a:ext cx="2194560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53C"/>
                </a:solidFill>
                <a:latin typeface="Aptos"/>
              </a:defRPr>
            </a:pPr>
            <a:r>
              <a:t>Target curves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2505456"/>
            <a:ext cx="5157216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78608"/>
            <a:ext cx="1261872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60" b="1">
                <a:solidFill>
                  <a:srgbClr val="2563EB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578608"/>
            <a:ext cx="347472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F2937"/>
                </a:solidFill>
                <a:latin typeface="Consolas"/>
              </a:defRPr>
            </a:pPr>
            <a:r>
              <a:t>T(p) = 1 - 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035808"/>
            <a:ext cx="5157216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108960"/>
            <a:ext cx="1261872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60" b="1">
                <a:solidFill>
                  <a:srgbClr val="C47A0A"/>
                </a:solidFill>
                <a:latin typeface="Aptos"/>
              </a:defRPr>
            </a:pPr>
            <a:r>
              <a:t>Meso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3108960"/>
            <a:ext cx="347472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F2937"/>
                </a:solidFill>
                <a:latin typeface="Consolas"/>
              </a:defRPr>
            </a:pPr>
            <a:r>
              <a:t>T(p) = 1 - p^1.35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3566160"/>
            <a:ext cx="5157216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39312"/>
            <a:ext cx="1261872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60" b="1">
                <a:solidFill>
                  <a:srgbClr val="2F855A"/>
                </a:solidFill>
                <a:latin typeface="Aptos"/>
              </a:defRPr>
            </a:pPr>
            <a:r>
              <a:t>Boulware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639312"/>
            <a:ext cx="347472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F2937"/>
                </a:solidFill>
                <a:latin typeface="Consolas"/>
              </a:defRPr>
            </a:pPr>
            <a:r>
              <a:t>T(p) = 1 - p^2.4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4096512"/>
            <a:ext cx="5157216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169664"/>
            <a:ext cx="1261872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60" b="1">
                <a:solidFill>
                  <a:srgbClr val="C24163"/>
                </a:solidFill>
                <a:latin typeface="Aptos"/>
              </a:defRPr>
            </a:pPr>
            <a:r>
              <a:t>Conceder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4169664"/>
            <a:ext cx="347472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F2937"/>
                </a:solidFill>
                <a:latin typeface="Consolas"/>
              </a:defRPr>
            </a:pPr>
            <a:r>
              <a:t>T(p) = 1 - sqrt(p)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" y="4626864"/>
            <a:ext cx="5157216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700016"/>
            <a:ext cx="1261872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60" b="1">
                <a:solidFill>
                  <a:srgbClr val="0F766E"/>
                </a:solidFill>
                <a:latin typeface="Aptos"/>
              </a:defRPr>
            </a:pPr>
            <a:r>
              <a:t>Tit for Tat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4700016"/>
            <a:ext cx="347472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F2937"/>
                </a:solidFill>
                <a:latin typeface="Consolas"/>
              </a:defRPr>
            </a:pPr>
            <a:r>
              <a:t>T(p) = baseline - reciprocityBonus + firmnessPenalty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" y="5248656"/>
            <a:ext cx="5157216" cy="347472"/>
          </a:xfrm>
          <a:prstGeom prst="roundRect">
            <a:avLst/>
          </a:prstGeom>
          <a:solidFill>
            <a:srgbClr val="18253C"/>
          </a:solidFill>
          <a:ln w="12700">
            <a:solidFill>
              <a:srgbClr val="18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340096"/>
            <a:ext cx="4809744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FFFFFF"/>
                </a:solidFill>
                <a:latin typeface="Aptos"/>
              </a:defRPr>
            </a:pPr>
            <a:r>
              <a:t>Hard reject thresholds: Baseline 0.1200 | Meso 0.1000 | Boulware 0.1500 | Conceder 0.0800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1938528"/>
            <a:ext cx="4956048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2121408"/>
            <a:ext cx="2651760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53C"/>
                </a:solidFill>
                <a:latin typeface="Aptos"/>
              </a:defRPr>
            </a:pPr>
            <a:r>
              <a:t>Settlement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1696" y="2487168"/>
            <a:ext cx="4498848" cy="31089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F2937"/>
                </a:solidFill>
                <a:latin typeface="Consolas"/>
              </a:defRPr>
            </a:pPr>
            <a:r>
              <a:t>minimumUtility = max(reservationUtility, strategyFloor)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F2937"/>
                </a:solidFill>
                <a:latin typeface="Consolas"/>
              </a:defRPr>
            </a:pPr>
            <a:r>
              <a:t>maximumPrice  = idealPrice + priceSpan * priceRatio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56832" y="3072384"/>
            <a:ext cx="4608576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1424" y="3145536"/>
            <a:ext cx="118872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2F855A"/>
                </a:solidFill>
                <a:latin typeface="Aptos"/>
              </a:defRPr>
            </a:pPr>
            <a:r>
              <a:t>Boulware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8" y="3145536"/>
            <a:ext cx="301752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1F2937"/>
                </a:solidFill>
                <a:latin typeface="Consolas"/>
              </a:defRPr>
            </a:pPr>
            <a:r>
              <a:t>priceRatio 0.55 | utilityFloor 0.7100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56832" y="3621024"/>
            <a:ext cx="4608576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21424" y="3694176"/>
            <a:ext cx="118872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2563EB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3694176"/>
            <a:ext cx="301752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1F2937"/>
                </a:solidFill>
                <a:latin typeface="Consolas"/>
              </a:defRPr>
            </a:pPr>
            <a:r>
              <a:t>priceRatio 0.70 | utilityFloor 0.6200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56832" y="4169663"/>
            <a:ext cx="4608576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21424" y="4242816"/>
            <a:ext cx="118872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0F766E"/>
                </a:solidFill>
                <a:latin typeface="Aptos"/>
              </a:defRPr>
            </a:pPr>
            <a:r>
              <a:t>Tit for Tat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8" y="4242816"/>
            <a:ext cx="301752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1F2937"/>
                </a:solidFill>
                <a:latin typeface="Consolas"/>
              </a:defRPr>
            </a:pPr>
            <a:r>
              <a:t>priceRatio 0.62 + bonus | utilityFloor 0.6200 - relief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56832" y="4718303"/>
            <a:ext cx="4608576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21424" y="4791455"/>
            <a:ext cx="118872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C47A0A"/>
                </a:solidFill>
                <a:latin typeface="Aptos"/>
              </a:defRPr>
            </a:pPr>
            <a:r>
              <a:t>Meso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4791455"/>
            <a:ext cx="301752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1F2937"/>
                </a:solidFill>
                <a:latin typeface="Consolas"/>
              </a:defRPr>
            </a:pPr>
            <a:r>
              <a:t>priceRatio 0.78 | utilityFloor 0.6000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56832" y="5266943"/>
            <a:ext cx="4608576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21424" y="5340095"/>
            <a:ext cx="118872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40" b="1">
                <a:solidFill>
                  <a:srgbClr val="C24163"/>
                </a:solidFill>
                <a:latin typeface="Aptos"/>
              </a:defRPr>
            </a:pPr>
            <a:r>
              <a:t>Conceder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8" y="5340095"/>
            <a:ext cx="301752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1F2937"/>
                </a:solidFill>
                <a:latin typeface="Consolas"/>
              </a:defRPr>
            </a:pPr>
            <a:r>
              <a:t>priceRatio 1.00 | utilityFloor 0.5000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56832" y="5248656"/>
            <a:ext cx="4608576" cy="347472"/>
          </a:xfrm>
          <a:prstGeom prst="roundRect">
            <a:avLst/>
          </a:prstGeom>
          <a:solidFill>
            <a:srgbClr val="18253C"/>
          </a:solidFill>
          <a:ln w="12700">
            <a:solidFill>
              <a:srgbClr val="18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84848" y="5340096"/>
            <a:ext cx="4352544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FFFFFF"/>
                </a:solidFill>
                <a:latin typeface="Aptos"/>
              </a:defRPr>
            </a:pPr>
            <a:r>
              <a:t>The same utility can settle under Conceder and still counter under Boulware.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640080"/>
            <a:ext cx="3749039" cy="3749039"/>
          </a:xfrm>
          <a:prstGeom prst="ellipse">
            <a:avLst/>
          </a:prstGeom>
          <a:solidFill>
            <a:srgbClr val="F9E7C6"/>
          </a:solidFill>
          <a:ln w="6350">
            <a:solidFill>
              <a:srgbClr val="F9E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074920"/>
            <a:ext cx="2926080" cy="2926080"/>
          </a:xfrm>
          <a:prstGeom prst="ellipse">
            <a:avLst/>
          </a:prstGeom>
          <a:solidFill>
            <a:srgbClr val="EEF2F7"/>
          </a:solidFill>
          <a:ln w="635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" y="402336"/>
            <a:ext cx="2103120" cy="274320"/>
          </a:xfrm>
          <a:prstGeom prst="roundRect">
            <a:avLst/>
          </a:prstGeom>
          <a:solidFill>
            <a:srgbClr val="F9E7C6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48056"/>
            <a:ext cx="2066543" cy="201167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C47A0A"/>
                </a:solidFill>
                <a:latin typeface="Aptos"/>
              </a:defRPr>
            </a:pPr>
            <a:r>
              <a:t>COUNTEROFFER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22960"/>
            <a:ext cx="7498079" cy="36576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53C"/>
                </a:solidFill>
                <a:latin typeface="Aptos Display"/>
              </a:defRPr>
            </a:pPr>
            <a:r>
              <a:t>Gap Ranking And MESO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225296"/>
            <a:ext cx="8412480" cy="20116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Aptos"/>
              </a:defRPr>
            </a:pPr>
            <a:r>
              <a:t>CounterOfferGenerator selects the next move by weighted gap, not by random variation.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" y="1536192"/>
            <a:ext cx="10991088" cy="0"/>
          </a:xfrm>
          <a:prstGeom prst="line">
            <a:avLst/>
          </a:prstGeom>
          <a:ln w="12700">
            <a:solidFill>
              <a:srgbClr val="DED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8" y="1956816"/>
            <a:ext cx="5321808" cy="3767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39696"/>
            <a:ext cx="2194560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53C"/>
                </a:solidFill>
                <a:latin typeface="Aptos"/>
              </a:defRPr>
            </a:pPr>
            <a:r>
              <a:t>Gap 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505456"/>
            <a:ext cx="4828032" cy="34747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1F2937"/>
                </a:solidFill>
                <a:latin typeface="Consolas"/>
              </a:defRPr>
            </a:pPr>
            <a:r>
              <a:t>gap_i = (distance from supplier offer to buyer ideal / issue span) * normalizedWeight_i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3054096"/>
            <a:ext cx="4937760" cy="548640"/>
          </a:xfrm>
          <a:prstGeom prst="roundRect">
            <a:avLst/>
          </a:prstGeom>
          <a:solidFill>
            <a:srgbClr val="E7F0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163824"/>
            <a:ext cx="4645152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80" b="1">
                <a:solidFill>
                  <a:srgbClr val="18253C"/>
                </a:solidFill>
                <a:latin typeface="Aptos"/>
              </a:defRPr>
            </a:pPr>
            <a:r>
              <a:t>1. Rank 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419856"/>
            <a:ext cx="4645152" cy="91439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F2937"/>
                </a:solidFill>
                <a:latin typeface="Aptos"/>
              </a:defRPr>
            </a:pPr>
            <a:r>
              <a:t>Find the most valuable remaining gap for the buyer.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712463"/>
            <a:ext cx="4937760" cy="548640"/>
          </a:xfrm>
          <a:prstGeom prst="roundRect">
            <a:avLst/>
          </a:prstGeom>
          <a:solidFill>
            <a:srgbClr val="DDF4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822191"/>
            <a:ext cx="4645152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80" b="1">
                <a:solidFill>
                  <a:srgbClr val="18253C"/>
                </a:solidFill>
                <a:latin typeface="Aptos"/>
              </a:defRPr>
            </a:pPr>
            <a:r>
              <a:t>2. Respect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078224"/>
            <a:ext cx="4645152" cy="91439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F2937"/>
                </a:solidFill>
                <a:latin typeface="Aptos"/>
              </a:defRPr>
            </a:pPr>
            <a:r>
              <a:t>Blocked issues are zeroed if supplier floors or ceilings stop movement.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370831"/>
            <a:ext cx="4937760" cy="548640"/>
          </a:xfrm>
          <a:prstGeom prst="roundRect">
            <a:avLst/>
          </a:prstGeom>
          <a:solidFill>
            <a:srgbClr val="DDF4E4"/>
          </a:solidFill>
          <a:ln w="1905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480559"/>
            <a:ext cx="4645152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80" b="1">
                <a:solidFill>
                  <a:srgbClr val="18253C"/>
                </a:solidFill>
                <a:latin typeface="Aptos"/>
              </a:defRPr>
            </a:pPr>
            <a:r>
              <a:t>3. Move halfway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736592"/>
            <a:ext cx="4645152" cy="91439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F2937"/>
                </a:solidFill>
                <a:latin typeface="Aptos"/>
              </a:defRPr>
            </a:pPr>
            <a:r>
              <a:t>The chosen issue moves toward the buyer ideal with a bounded midpoint step.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5029199"/>
            <a:ext cx="4937760" cy="548640"/>
          </a:xfrm>
          <a:prstGeom prst="roundRect">
            <a:avLst/>
          </a:prstGeom>
          <a:solidFill>
            <a:srgbClr val="F9E7C6"/>
          </a:solidFill>
          <a:ln w="1905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5138927"/>
            <a:ext cx="4645152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80" b="1">
                <a:solidFill>
                  <a:srgbClr val="18253C"/>
                </a:solidFill>
                <a:latin typeface="Aptos"/>
              </a:defRPr>
            </a:pPr>
            <a:r>
              <a:t>4. Tune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5394959"/>
            <a:ext cx="4645152" cy="91439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F2937"/>
                </a:solidFill>
                <a:latin typeface="Aptos"/>
              </a:defRPr>
            </a:pPr>
            <a:r>
              <a:t>Rebalance price, keep history consistency, and clamp to settlement policy.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088" y="1956816"/>
            <a:ext cx="5010912" cy="3767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2139696"/>
            <a:ext cx="1920240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53C"/>
                </a:solidFill>
                <a:latin typeface="Aptos"/>
              </a:defRPr>
            </a:pPr>
            <a:r>
              <a:t>MESO behavior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2468880"/>
            <a:ext cx="4480560" cy="18288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1F2937"/>
                </a:solidFill>
                <a:latin typeface="Aptos"/>
              </a:defRPr>
            </a:pPr>
            <a:r>
              <a:t>MESO keeps the same safety checks but can return up to three viable options in one round.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926080"/>
            <a:ext cx="4480560" cy="512064"/>
          </a:xfrm>
          <a:prstGeom prst="roundRect">
            <a:avLst/>
          </a:prstGeom>
          <a:solidFill>
            <a:srgbClr val="E7F0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3017520"/>
            <a:ext cx="82296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ptos"/>
              </a:defRPr>
            </a:pPr>
            <a:r>
              <a:t>Option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6" y="3017520"/>
            <a:ext cx="3218688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F2937"/>
                </a:solidFill>
                <a:latin typeface="Aptos"/>
              </a:defRPr>
            </a:pPr>
            <a:r>
              <a:t>price-focused move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3584448"/>
            <a:ext cx="4480560" cy="512064"/>
          </a:xfrm>
          <a:prstGeom prst="roundRect">
            <a:avLst/>
          </a:prstGeom>
          <a:solidFill>
            <a:srgbClr val="DDF4E4"/>
          </a:solidFill>
          <a:ln w="1524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9712" y="3675887"/>
            <a:ext cx="82296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855A"/>
                </a:solidFill>
                <a:latin typeface="Aptos"/>
              </a:defRPr>
            </a:pPr>
            <a:r>
              <a:t>Option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7536" y="3675887"/>
            <a:ext cx="3218688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F2937"/>
                </a:solidFill>
                <a:latin typeface="Aptos"/>
              </a:defRPr>
            </a:pPr>
            <a:r>
              <a:t>delivery-focused move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4242816"/>
            <a:ext cx="4480560" cy="512064"/>
          </a:xfrm>
          <a:prstGeom prst="roundRect">
            <a:avLst/>
          </a:prstGeom>
          <a:solidFill>
            <a:srgbClr val="F9E7C6"/>
          </a:solidFill>
          <a:ln w="1524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9712" y="4334255"/>
            <a:ext cx="82296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7A0A"/>
                </a:solidFill>
                <a:latin typeface="Aptos"/>
              </a:defRPr>
            </a:pPr>
            <a:r>
              <a:t>Option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7536" y="4334255"/>
            <a:ext cx="3218688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F2937"/>
                </a:solidFill>
                <a:latin typeface="Aptos"/>
              </a:defRPr>
            </a:pPr>
            <a:r>
              <a:t>contract-focused move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4901184"/>
            <a:ext cx="4480560" cy="548640"/>
          </a:xfrm>
          <a:prstGeom prst="roundRect">
            <a:avLst/>
          </a:prstGeom>
          <a:solidFill>
            <a:srgbClr val="18253C"/>
          </a:solidFill>
          <a:ln w="12700">
            <a:solidFill>
              <a:srgbClr val="18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76288" y="5065776"/>
            <a:ext cx="4078224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FFFFFF"/>
                </a:solidFill>
                <a:latin typeface="Aptos"/>
              </a:defRPr>
            </a:pPr>
            <a:r>
              <a:t>The supplier can then reveal preference without the buyer weakening its position.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640080"/>
            <a:ext cx="3749039" cy="3749039"/>
          </a:xfrm>
          <a:prstGeom prst="ellipse">
            <a:avLst/>
          </a:prstGeom>
          <a:solidFill>
            <a:srgbClr val="DDF4E4"/>
          </a:solidFill>
          <a:ln w="6350">
            <a:solidFill>
              <a:srgbClr val="DDF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074920"/>
            <a:ext cx="2926080" cy="2926080"/>
          </a:xfrm>
          <a:prstGeom prst="ellipse">
            <a:avLst/>
          </a:prstGeom>
          <a:solidFill>
            <a:srgbClr val="E7F0FF"/>
          </a:solidFill>
          <a:ln w="635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" y="402336"/>
            <a:ext cx="2103120" cy="274320"/>
          </a:xfrm>
          <a:prstGeom prst="roundRect">
            <a:avLst/>
          </a:prstGeom>
          <a:solidFill>
            <a:srgbClr val="F9E7C6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48056"/>
            <a:ext cx="2066543" cy="201167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C47A0A"/>
                </a:solidFill>
                <a:latin typeface="Aptos"/>
              </a:defRPr>
            </a:pPr>
            <a:r>
              <a:t>TEST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22960"/>
            <a:ext cx="7498079" cy="36576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53C"/>
                </a:solidFill>
                <a:latin typeface="Aptos Display"/>
              </a:defRPr>
            </a:pPr>
            <a:r>
              <a:t>StrategySimulationMatrixTest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225296"/>
            <a:ext cx="8412480" cy="20116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Aptos"/>
              </a:defRPr>
            </a:pPr>
            <a:r>
              <a:t>Seven deterministic scenarios confirm that the strategies remain behaviorally distinct.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" y="1536192"/>
            <a:ext cx="10991088" cy="0"/>
          </a:xfrm>
          <a:prstGeom prst="line">
            <a:avLst/>
          </a:prstGeom>
          <a:ln w="12700">
            <a:solidFill>
              <a:srgbClr val="DED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956816"/>
          <a:ext cx="7333486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1020470"/>
                <a:gridCol w="1020470"/>
                <a:gridCol w="1020470"/>
                <a:gridCol w="1020470"/>
                <a:gridCol w="1020470"/>
              </a:tblGrid>
              <a:tr h="46634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 marL="45720" marR="45720" marT="18288" marB="18288">
                    <a:solidFill>
                      <a:srgbClr val="18253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0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Baseline</a:t>
                      </a:r>
                    </a:p>
                  </a:txBody>
                  <a:tcPr marL="45720" marR="45720" marT="18288" marB="18288">
                    <a:solidFill>
                      <a:srgbClr val="18253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0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Meso</a:t>
                      </a:r>
                    </a:p>
                  </a:txBody>
                  <a:tcPr marL="45720" marR="45720" marT="18288" marB="18288">
                    <a:solidFill>
                      <a:srgbClr val="18253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0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Boulware</a:t>
                      </a:r>
                    </a:p>
                  </a:txBody>
                  <a:tcPr marL="45720" marR="45720" marT="18288" marB="18288">
                    <a:solidFill>
                      <a:srgbClr val="18253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0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Conceder</a:t>
                      </a:r>
                    </a:p>
                  </a:txBody>
                  <a:tcPr marL="45720" marR="45720" marT="18288" marB="18288">
                    <a:solidFill>
                      <a:srgbClr val="18253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0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Tit for Tat</a:t>
                      </a:r>
                    </a:p>
                  </a:txBody>
                  <a:tcPr marL="45720" marR="45720" marT="18288" marB="18288">
                    <a:solidFill>
                      <a:srgbClr val="18253C"/>
                    </a:solidFill>
                  </a:tcPr>
                </a:tc>
              </a:tr>
              <a:tr h="46634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Margin hardliner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R8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R8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R8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R8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R8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</a:tr>
              <a:tr h="46634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Price floor tradeoff</a:t>
                      </a:r>
                    </a:p>
                  </a:txBody>
                  <a:tcPr marL="45720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R2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R8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R2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R2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R2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</a:tr>
              <a:tr h="46634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Payment ceiling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R2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R8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R2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F855A"/>
                          </a:solidFill>
                          <a:latin typeface="Aptos"/>
                        </a:defRPr>
                      </a:pPr>
                      <a:r>
                        <a:t>A2</a:t>
                      </a:r>
                    </a:p>
                  </a:txBody>
                  <a:tcPr marL="45720" marR="45720" marT="18288" marB="18288">
                    <a:solidFill>
                      <a:srgbClr val="DDF4E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R2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</a:tr>
              <a:tr h="46634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Delivery floor</a:t>
                      </a:r>
                    </a:p>
                  </a:txBody>
                  <a:tcPr marL="45720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R8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F855A"/>
                          </a:solidFill>
                          <a:latin typeface="Aptos"/>
                        </a:defRPr>
                      </a:pPr>
                      <a:r>
                        <a:t>A8</a:t>
                      </a:r>
                    </a:p>
                  </a:txBody>
                  <a:tcPr marL="45720" marR="45720" marT="18288" marB="18288">
                    <a:solidFill>
                      <a:srgbClr val="DDF4E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R8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F855A"/>
                          </a:solidFill>
                          <a:latin typeface="Aptos"/>
                        </a:defRPr>
                      </a:pPr>
                      <a:r>
                        <a:t>A5</a:t>
                      </a:r>
                    </a:p>
                  </a:txBody>
                  <a:tcPr marL="45720" marR="45720" marT="18288" marB="18288">
                    <a:solidFill>
                      <a:srgbClr val="DDF4E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R8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</a:tr>
              <a:tr h="46634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Late closer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R2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R8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R2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R2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R2</a:t>
                      </a:r>
                    </a:p>
                  </a:txBody>
                  <a:tcPr marL="45720" marR="45720" marT="18288" marB="18288">
                    <a:solidFill>
                      <a:srgbClr val="F9DFE7"/>
                    </a:solidFill>
                  </a:tcPr>
                </a:tc>
              </a:tr>
              <a:tr h="46634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Near settlement</a:t>
                      </a:r>
                    </a:p>
                  </a:txBody>
                  <a:tcPr marL="45720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F855A"/>
                          </a:solidFill>
                          <a:latin typeface="Aptos"/>
                        </a:defRPr>
                      </a:pPr>
                      <a:r>
                        <a:t>A3</a:t>
                      </a:r>
                    </a:p>
                  </a:txBody>
                  <a:tcPr marL="45720" marR="45720" marT="18288" marB="18288">
                    <a:solidFill>
                      <a:srgbClr val="DDF4E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F855A"/>
                          </a:solidFill>
                          <a:latin typeface="Aptos"/>
                        </a:defRPr>
                      </a:pPr>
                      <a:r>
                        <a:t>A4</a:t>
                      </a:r>
                    </a:p>
                  </a:txBody>
                  <a:tcPr marL="45720" marR="45720" marT="18288" marB="18288">
                    <a:solidFill>
                      <a:srgbClr val="DDF4E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F855A"/>
                          </a:solidFill>
                          <a:latin typeface="Aptos"/>
                        </a:defRPr>
                      </a:pPr>
                      <a:r>
                        <a:t>A5</a:t>
                      </a:r>
                    </a:p>
                  </a:txBody>
                  <a:tcPr marL="45720" marR="45720" marT="18288" marB="18288">
                    <a:solidFill>
                      <a:srgbClr val="DDF4E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F855A"/>
                          </a:solidFill>
                          <a:latin typeface="Aptos"/>
                        </a:defRPr>
                      </a:pPr>
                      <a:r>
                        <a:t>A1</a:t>
                      </a:r>
                    </a:p>
                  </a:txBody>
                  <a:tcPr marL="45720" marR="45720" marT="18288" marB="18288">
                    <a:solidFill>
                      <a:srgbClr val="DDF4E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F855A"/>
                          </a:solidFill>
                          <a:latin typeface="Aptos"/>
                        </a:defRPr>
                      </a:pPr>
                      <a:r>
                        <a:t>A3</a:t>
                      </a:r>
                    </a:p>
                  </a:txBody>
                  <a:tcPr marL="45720" marR="45720" marT="18288" marB="18288">
                    <a:solidFill>
                      <a:srgbClr val="DDF4E4"/>
                    </a:solidFill>
                  </a:tcPr>
                </a:tc>
              </a:tr>
              <a:tr h="466344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Deadline settlement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F855A"/>
                          </a:solidFill>
                          <a:latin typeface="Aptos"/>
                        </a:defRPr>
                      </a:pPr>
                      <a:r>
                        <a:t>A3</a:t>
                      </a:r>
                    </a:p>
                  </a:txBody>
                  <a:tcPr marL="45720" marR="45720" marT="18288" marB="18288">
                    <a:solidFill>
                      <a:srgbClr val="DDF4E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F855A"/>
                          </a:solidFill>
                          <a:latin typeface="Aptos"/>
                        </a:defRPr>
                      </a:pPr>
                      <a:r>
                        <a:t>A4</a:t>
                      </a:r>
                    </a:p>
                  </a:txBody>
                  <a:tcPr marL="45720" marR="45720" marT="18288" marB="18288">
                    <a:solidFill>
                      <a:srgbClr val="DDF4E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F855A"/>
                          </a:solidFill>
                          <a:latin typeface="Aptos"/>
                        </a:defRPr>
                      </a:pPr>
                      <a:r>
                        <a:t>A5</a:t>
                      </a:r>
                    </a:p>
                  </a:txBody>
                  <a:tcPr marL="45720" marR="45720" marT="18288" marB="18288">
                    <a:solidFill>
                      <a:srgbClr val="DDF4E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F855A"/>
                          </a:solidFill>
                          <a:latin typeface="Aptos"/>
                        </a:defRPr>
                      </a:pPr>
                      <a:r>
                        <a:t>A1</a:t>
                      </a:r>
                    </a:p>
                  </a:txBody>
                  <a:tcPr marL="45720" marR="45720" marT="18288" marB="18288">
                    <a:solidFill>
                      <a:srgbClr val="DDF4E4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2F855A"/>
                          </a:solidFill>
                          <a:latin typeface="Aptos"/>
                        </a:defRPr>
                      </a:pPr>
                      <a:r>
                        <a:t>A3</a:t>
                      </a:r>
                    </a:p>
                  </a:txBody>
                  <a:tcPr marL="45720" marR="45720" marT="18288" marB="18288">
                    <a:solidFill>
                      <a:srgbClr val="DDF4E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97296"/>
            <a:ext cx="1133856" cy="219456"/>
          </a:xfrm>
          <a:prstGeom prst="roundRect">
            <a:avLst/>
          </a:prstGeom>
          <a:solidFill>
            <a:srgbClr val="DDF4E4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843016"/>
            <a:ext cx="1097280" cy="146303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1">
                <a:solidFill>
                  <a:srgbClr val="2F855A"/>
                </a:solidFill>
                <a:latin typeface="Aptos"/>
              </a:defRPr>
            </a:pPr>
            <a:r>
              <a:t>A = accepted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93392" y="5797296"/>
            <a:ext cx="1078992" cy="219456"/>
          </a:xfrm>
          <a:prstGeom prst="roundRect">
            <a:avLst/>
          </a:prstGeom>
          <a:solidFill>
            <a:srgbClr val="F9DFE7"/>
          </a:solidFill>
          <a:ln w="12700">
            <a:solidFill>
              <a:srgbClr val="C24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843016"/>
            <a:ext cx="1042415" cy="146303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1">
                <a:solidFill>
                  <a:srgbClr val="C24163"/>
                </a:solidFill>
                <a:latin typeface="Aptos"/>
              </a:defRPr>
            </a:pPr>
            <a:r>
              <a:t>R = rejected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5815584"/>
            <a:ext cx="466344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6B7280"/>
                </a:solidFill>
                <a:latin typeface="Aptos"/>
              </a:defRPr>
            </a:pPr>
            <a:r>
              <a:t>number = round where the scenario closed or failed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956816"/>
            <a:ext cx="3584448" cy="206654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0496" y="2139696"/>
            <a:ext cx="2377440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53C"/>
                </a:solidFill>
                <a:latin typeface="Aptos"/>
              </a:defRPr>
            </a:pPr>
            <a:r>
              <a:t>Accepted averages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449056" y="2450592"/>
          <a:ext cx="3182112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822960"/>
                <a:gridCol w="822960"/>
              </a:tblGrid>
              <a:tr h="23164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Strategy</a:t>
                      </a:r>
                    </a:p>
                  </a:txBody>
                  <a:tcPr marL="45720" marR="45720" marT="18288" marB="18288">
                    <a:solidFill>
                      <a:srgbClr val="18253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Buyer U</a:t>
                      </a:r>
                    </a:p>
                  </a:txBody>
                  <a:tcPr marL="45720" marR="45720" marT="18288" marB="18288">
                    <a:solidFill>
                      <a:srgbClr val="18253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 R</a:t>
                      </a:r>
                    </a:p>
                  </a:txBody>
                  <a:tcPr marL="45720" marR="45720" marT="18288" marB="18288">
                    <a:solidFill>
                      <a:srgbClr val="18253C"/>
                    </a:solidFill>
                  </a:tcPr>
                </a:tc>
              </a:tr>
              <a:tr h="23164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80" b="1">
                          <a:solidFill>
                            <a:srgbClr val="2F855A"/>
                          </a:solidFill>
                          <a:latin typeface="Aptos"/>
                        </a:defRPr>
                      </a:pPr>
                      <a:r>
                        <a:t>Boulware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98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0.7583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98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5.00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164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8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Baseline</a:t>
                      </a:r>
                    </a:p>
                  </a:txBody>
                  <a:tcPr marL="45720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98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0.7340</a:t>
                      </a:r>
                    </a:p>
                  </a:txBody>
                  <a:tcPr marL="45720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98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3.00</a:t>
                      </a:r>
                    </a:p>
                  </a:txBody>
                  <a:tcPr marL="45720" marR="45720" marT="18288" marB="18288">
                    <a:solidFill>
                      <a:srgbClr val="EEF2F7"/>
                    </a:solidFill>
                  </a:tcPr>
                </a:tc>
              </a:tr>
              <a:tr h="23164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80" b="1">
                          <a:solidFill>
                            <a:srgbClr val="0F766E"/>
                          </a:solidFill>
                          <a:latin typeface="Aptos"/>
                        </a:defRPr>
                      </a:pPr>
                      <a:r>
                        <a:t>Tit for Tat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98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0.7340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98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3.00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3164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80" b="1">
                          <a:solidFill>
                            <a:srgbClr val="C47A0A"/>
                          </a:solidFill>
                          <a:latin typeface="Aptos"/>
                        </a:defRPr>
                      </a:pPr>
                      <a:r>
                        <a:t>Meso</a:t>
                      </a:r>
                    </a:p>
                  </a:txBody>
                  <a:tcPr marL="45720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98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0.6922</a:t>
                      </a:r>
                    </a:p>
                  </a:txBody>
                  <a:tcPr marL="45720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98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5.33</a:t>
                      </a:r>
                    </a:p>
                  </a:txBody>
                  <a:tcPr marL="45720" marR="45720" marT="18288" marB="18288">
                    <a:solidFill>
                      <a:srgbClr val="EEF2F7"/>
                    </a:solidFill>
                  </a:tcPr>
                </a:tc>
              </a:tr>
              <a:tr h="231648"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980" b="1">
                          <a:solidFill>
                            <a:srgbClr val="C24163"/>
                          </a:solidFill>
                          <a:latin typeface="Aptos"/>
                        </a:defRPr>
                      </a:pPr>
                      <a:r>
                        <a:t>Conceder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98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0.5938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 sz="98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2.25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302752" y="4169663"/>
            <a:ext cx="3584448" cy="15179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352544"/>
            <a:ext cx="2011680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253C"/>
                </a:solidFill>
                <a:latin typeface="Aptos"/>
              </a:defRPr>
            </a:pPr>
            <a:r>
              <a:t>What the test proves</a:t>
            </a:r>
          </a:p>
        </p:txBody>
      </p:sp>
      <p:sp>
        <p:nvSpPr>
          <p:cNvPr id="20" name="Oval 19"/>
          <p:cNvSpPr/>
          <p:nvPr/>
        </p:nvSpPr>
        <p:spPr>
          <a:xfrm>
            <a:off x="8485632" y="4709160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2" y="4681728"/>
            <a:ext cx="292608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F2937"/>
                </a:solidFill>
                <a:latin typeface="Aptos"/>
              </a:defRPr>
            </a:pPr>
            <a:r>
              <a:t>Boulware preserves the most buyer utility.</a:t>
            </a:r>
          </a:p>
        </p:txBody>
      </p:sp>
      <p:sp>
        <p:nvSpPr>
          <p:cNvPr id="22" name="Oval 21"/>
          <p:cNvSpPr/>
          <p:nvPr/>
        </p:nvSpPr>
        <p:spPr>
          <a:xfrm>
            <a:off x="8485632" y="492861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8512" y="4901184"/>
            <a:ext cx="292608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F2937"/>
                </a:solidFill>
                <a:latin typeface="Aptos"/>
              </a:defRPr>
            </a:pPr>
            <a:r>
              <a:t>Baseline stays in the middle.</a:t>
            </a:r>
          </a:p>
        </p:txBody>
      </p:sp>
      <p:sp>
        <p:nvSpPr>
          <p:cNvPr id="24" name="Oval 23"/>
          <p:cNvSpPr/>
          <p:nvPr/>
        </p:nvSpPr>
        <p:spPr>
          <a:xfrm>
            <a:off x="8485632" y="5148072"/>
            <a:ext cx="109728" cy="109728"/>
          </a:xfrm>
          <a:prstGeom prst="ellipse">
            <a:avLst/>
          </a:prstGeom>
          <a:solidFill>
            <a:srgbClr val="C24163"/>
          </a:solidFill>
          <a:ln w="12700">
            <a:solidFill>
              <a:srgbClr val="C24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68512" y="5120640"/>
            <a:ext cx="292608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F2937"/>
                </a:solidFill>
                <a:latin typeface="Aptos"/>
              </a:defRPr>
            </a:pPr>
            <a:r>
              <a:t>Conceder settles earliest.</a:t>
            </a:r>
          </a:p>
        </p:txBody>
      </p:sp>
      <p:sp>
        <p:nvSpPr>
          <p:cNvPr id="26" name="Oval 25"/>
          <p:cNvSpPr/>
          <p:nvPr/>
        </p:nvSpPr>
        <p:spPr>
          <a:xfrm>
            <a:off x="8485632" y="5367528"/>
            <a:ext cx="109728" cy="109728"/>
          </a:xfrm>
          <a:prstGeom prst="ellipse">
            <a:avLst/>
          </a:prstGeom>
          <a:solidFill>
            <a:srgbClr val="C47A0A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68512" y="5340096"/>
            <a:ext cx="292608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F2937"/>
                </a:solidFill>
                <a:latin typeface="Aptos"/>
              </a:defRPr>
            </a:pPr>
            <a:r>
              <a:t>Meso differs through exploration and later closure.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640080"/>
            <a:ext cx="3749039" cy="3749039"/>
          </a:xfrm>
          <a:prstGeom prst="ellipse">
            <a:avLst/>
          </a:prstGeom>
          <a:solidFill>
            <a:srgbClr val="E7F0FF"/>
          </a:solidFill>
          <a:ln w="6350">
            <a:solidFill>
              <a:srgbClr val="E7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074920"/>
            <a:ext cx="2926080" cy="2926080"/>
          </a:xfrm>
          <a:prstGeom prst="ellipse">
            <a:avLst/>
          </a:prstGeom>
          <a:solidFill>
            <a:srgbClr val="F9DFE7"/>
          </a:solidFill>
          <a:ln w="6350">
            <a:solidFill>
              <a:srgbClr val="F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" y="402336"/>
            <a:ext cx="2103120" cy="274320"/>
          </a:xfrm>
          <a:prstGeom prst="roundRect">
            <a:avLst/>
          </a:prstGeom>
          <a:solidFill>
            <a:srgbClr val="F9E7C6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448056"/>
            <a:ext cx="2066543" cy="201167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C47A0A"/>
                </a:solidFill>
                <a:latin typeface="Aptos"/>
              </a:defRPr>
            </a:pPr>
            <a:r>
              <a:t>TEST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22960"/>
            <a:ext cx="7498079" cy="36576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53C"/>
                </a:solidFill>
                <a:latin typeface="Aptos Display"/>
              </a:defRPr>
            </a:pPr>
            <a:r>
              <a:t>PriceSensitivityTest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225296"/>
            <a:ext cx="8412480" cy="20116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Aptos"/>
              </a:defRPr>
            </a:pPr>
            <a:r>
              <a:t>The supplier script is fixed, so the closing price differences come entirely from buyer strategy.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" y="1536192"/>
            <a:ext cx="10991088" cy="0"/>
          </a:xfrm>
          <a:prstGeom prst="line">
            <a:avLst/>
          </a:prstGeom>
          <a:ln w="12700">
            <a:solidFill>
              <a:srgbClr val="DED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8" y="1938528"/>
            <a:ext cx="1097280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103120"/>
            <a:ext cx="1920240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53C"/>
                </a:solidFill>
                <a:latin typeface="Aptos"/>
              </a:defRPr>
            </a:pPr>
            <a:r>
              <a:t>Fixed supplier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2066543"/>
            <a:ext cx="1975104" cy="219456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2112263"/>
            <a:ext cx="1938528" cy="146303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80" b="1">
                <a:solidFill>
                  <a:srgbClr val="2563EB"/>
                </a:solidFill>
                <a:latin typeface="Aptos"/>
              </a:defRPr>
            </a:pPr>
            <a:r>
              <a:t>Price 120 fixed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066543"/>
            <a:ext cx="2029968" cy="219456"/>
          </a:xfrm>
          <a:prstGeom prst="roundRect">
            <a:avLst/>
          </a:prstGeom>
          <a:solidFill>
            <a:srgbClr val="DDF4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2112263"/>
            <a:ext cx="1993392" cy="146303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80" b="1">
                <a:solidFill>
                  <a:srgbClr val="0F766E"/>
                </a:solidFill>
                <a:latin typeface="Aptos"/>
              </a:defRPr>
            </a:pPr>
            <a:r>
              <a:t>Payment 60 fixed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87184" y="2066543"/>
            <a:ext cx="2779776" cy="219456"/>
          </a:xfrm>
          <a:prstGeom prst="roundRect">
            <a:avLst/>
          </a:prstGeom>
          <a:solidFill>
            <a:srgbClr val="F9E7C6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2112263"/>
            <a:ext cx="2743200" cy="146303"/>
          </a:xfrm>
          <a:prstGeom prst="rect">
            <a:avLst/>
          </a:prstGeom>
          <a:noFill/>
        </p:spPr>
        <p:txBody>
          <a:bodyPr wrap="square" lIns="54864" rIns="36576" tIns="36576" bIns="18288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80" b="1">
                <a:solidFill>
                  <a:srgbClr val="C47A0A"/>
                </a:solidFill>
                <a:latin typeface="Aptos"/>
              </a:defRPr>
            </a:pPr>
            <a:r>
              <a:t>Delivery and contract improve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39696" y="2706624"/>
            <a:ext cx="182880" cy="0"/>
          </a:xfrm>
          <a:prstGeom prst="line">
            <a:avLst/>
          </a:prstGeom>
          <a:ln w="2032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657600" y="2706624"/>
            <a:ext cx="182880" cy="0"/>
          </a:xfrm>
          <a:prstGeom prst="line">
            <a:avLst/>
          </a:prstGeom>
          <a:ln w="2032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75504" y="2706624"/>
            <a:ext cx="182880" cy="0"/>
          </a:xfrm>
          <a:prstGeom prst="line">
            <a:avLst/>
          </a:prstGeom>
          <a:ln w="2032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93408" y="2706624"/>
            <a:ext cx="182880" cy="0"/>
          </a:xfrm>
          <a:prstGeom prst="line">
            <a:avLst/>
          </a:prstGeom>
          <a:ln w="2032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11312" y="2706624"/>
            <a:ext cx="182880" cy="0"/>
          </a:xfrm>
          <a:prstGeom prst="line">
            <a:avLst/>
          </a:prstGeom>
          <a:ln w="2032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29216" y="2706624"/>
            <a:ext cx="182880" cy="0"/>
          </a:xfrm>
          <a:prstGeom prst="line">
            <a:avLst/>
          </a:prstGeom>
          <a:ln w="2032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77824" y="2487168"/>
            <a:ext cx="1335024" cy="384048"/>
          </a:xfrm>
          <a:prstGeom prst="roundRect">
            <a:avLst/>
          </a:prstGeom>
          <a:solidFill>
            <a:srgbClr val="E7F0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2560320"/>
            <a:ext cx="274320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563EB"/>
                </a:solidFill>
                <a:latin typeface="Aptos"/>
              </a:defRPr>
            </a:pPr>
            <a:r>
              <a:t>T1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" y="2560320"/>
            <a:ext cx="87782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1F2937"/>
                </a:solidFill>
                <a:latin typeface="Consolas"/>
              </a:defRPr>
            </a:pPr>
            <a:r>
              <a:t>P120 D30 C24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95728" y="2487168"/>
            <a:ext cx="1335024" cy="384048"/>
          </a:xfrm>
          <a:prstGeom prst="roundRect">
            <a:avLst/>
          </a:prstGeom>
          <a:solidFill>
            <a:srgbClr val="DDF4F1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2560320"/>
            <a:ext cx="274320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766E"/>
                </a:solidFill>
                <a:latin typeface="Aptos"/>
              </a:defRPr>
            </a:pPr>
            <a:r>
              <a:t>T2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2560320"/>
            <a:ext cx="87782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1F2937"/>
                </a:solidFill>
                <a:latin typeface="Consolas"/>
              </a:defRPr>
            </a:pPr>
            <a:r>
              <a:t>P120 D21 C24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13632" y="2487168"/>
            <a:ext cx="1335024" cy="384048"/>
          </a:xfrm>
          <a:prstGeom prst="roundRect">
            <a:avLst/>
          </a:prstGeom>
          <a:solidFill>
            <a:srgbClr val="E7F0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86784" y="2560320"/>
            <a:ext cx="274320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563EB"/>
                </a:solidFill>
                <a:latin typeface="Aptos"/>
              </a:defRPr>
            </a:pPr>
            <a:r>
              <a:t>T3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2560320"/>
            <a:ext cx="87782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1F2937"/>
                </a:solidFill>
                <a:latin typeface="Consolas"/>
              </a:defRPr>
            </a:pPr>
            <a:r>
              <a:t>P120 D14 C24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31536" y="2487168"/>
            <a:ext cx="1335024" cy="384048"/>
          </a:xfrm>
          <a:prstGeom prst="roundRect">
            <a:avLst/>
          </a:prstGeom>
          <a:solidFill>
            <a:srgbClr val="F9E7C6"/>
          </a:solidFill>
          <a:ln w="1524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04688" y="2560320"/>
            <a:ext cx="274320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47A0A"/>
                </a:solidFill>
                <a:latin typeface="Aptos"/>
              </a:defRPr>
            </a:pPr>
            <a:r>
              <a:t>T4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7296" y="2560320"/>
            <a:ext cx="87782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1F2937"/>
                </a:solidFill>
                <a:latin typeface="Consolas"/>
              </a:defRPr>
            </a:pPr>
            <a:r>
              <a:t>P120 D14 C12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9440" y="2487168"/>
            <a:ext cx="1335024" cy="384048"/>
          </a:xfrm>
          <a:prstGeom prst="roundRect">
            <a:avLst/>
          </a:prstGeom>
          <a:solidFill>
            <a:srgbClr val="DDF4E4"/>
          </a:solidFill>
          <a:ln w="1524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22592" y="2560320"/>
            <a:ext cx="274320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855A"/>
                </a:solidFill>
                <a:latin typeface="Aptos"/>
              </a:defRPr>
            </a:pPr>
            <a:r>
              <a:t>T5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560320"/>
            <a:ext cx="87782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1F2937"/>
                </a:solidFill>
                <a:latin typeface="Consolas"/>
              </a:defRPr>
            </a:pPr>
            <a:r>
              <a:t>P120 D7  C12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67344" y="2487168"/>
            <a:ext cx="1335024" cy="384048"/>
          </a:xfrm>
          <a:prstGeom prst="roundRect">
            <a:avLst/>
          </a:prstGeom>
          <a:solidFill>
            <a:srgbClr val="F9DFE7"/>
          </a:solidFill>
          <a:ln w="15240">
            <a:solidFill>
              <a:srgbClr val="C24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0496" y="2560320"/>
            <a:ext cx="274320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24163"/>
                </a:solidFill>
                <a:latin typeface="Aptos"/>
              </a:defRPr>
            </a:pPr>
            <a:r>
              <a:t>T6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33104" y="2560320"/>
            <a:ext cx="87782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1F2937"/>
                </a:solidFill>
                <a:latin typeface="Consolas"/>
              </a:defRPr>
            </a:pPr>
            <a:r>
              <a:t>P120 D7  C12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85248" y="2487168"/>
            <a:ext cx="1335024" cy="384048"/>
          </a:xfrm>
          <a:prstGeom prst="roundRect">
            <a:avLst/>
          </a:prstGeom>
          <a:solidFill>
            <a:srgbClr val="EEF2F7"/>
          </a:solidFill>
          <a:ln w="15240">
            <a:solidFill>
              <a:srgbClr val="18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0" y="2560320"/>
            <a:ext cx="274320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8253C"/>
                </a:solidFill>
                <a:latin typeface="Aptos"/>
              </a:defRPr>
            </a:pPr>
            <a:r>
              <a:t>T7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51008" y="2560320"/>
            <a:ext cx="87782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>
                <a:solidFill>
                  <a:srgbClr val="1F2937"/>
                </a:solidFill>
                <a:latin typeface="Consolas"/>
              </a:defRPr>
            </a:pPr>
            <a:r>
              <a:t>accept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8" y="3236976"/>
            <a:ext cx="6766560" cy="2761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" y="3419856"/>
            <a:ext cx="2926080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53C"/>
                </a:solidFill>
                <a:latin typeface="Aptos"/>
              </a:defRPr>
            </a:pPr>
            <a:r>
              <a:t>Average closing price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4688" y="3438144"/>
            <a:ext cx="1188720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6B7280"/>
                </a:solidFill>
                <a:latin typeface="Aptos"/>
              </a:defRPr>
            </a:pPr>
            <a:r>
              <a:t>close | first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267712" y="5650992"/>
            <a:ext cx="3419856" cy="0"/>
          </a:xfrm>
          <a:prstGeom prst="line">
            <a:avLst/>
          </a:prstGeom>
          <a:ln w="2032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267712" y="3749039"/>
            <a:ext cx="0" cy="1901953"/>
          </a:xfrm>
          <a:prstGeom prst="line">
            <a:avLst/>
          </a:prstGeom>
          <a:ln w="10160">
            <a:solidFill>
              <a:srgbClr val="DDD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21408" y="5687568"/>
            <a:ext cx="292608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Aptos"/>
              </a:defRPr>
            </a:pPr>
            <a:r>
              <a:t>100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122676" y="3749039"/>
            <a:ext cx="0" cy="1901953"/>
          </a:xfrm>
          <a:prstGeom prst="line">
            <a:avLst/>
          </a:prstGeom>
          <a:ln w="10160">
            <a:solidFill>
              <a:srgbClr val="DDD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976372" y="5687568"/>
            <a:ext cx="292608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Aptos"/>
              </a:defRPr>
            </a:pPr>
            <a:r>
              <a:t>105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977639" y="3749039"/>
            <a:ext cx="0" cy="1901953"/>
          </a:xfrm>
          <a:prstGeom prst="line">
            <a:avLst/>
          </a:prstGeom>
          <a:ln w="10160">
            <a:solidFill>
              <a:srgbClr val="DDD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831335" y="5687568"/>
            <a:ext cx="292608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Aptos"/>
              </a:defRPr>
            </a:pPr>
            <a:r>
              <a:t>110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832604" y="3749039"/>
            <a:ext cx="0" cy="1901953"/>
          </a:xfrm>
          <a:prstGeom prst="line">
            <a:avLst/>
          </a:prstGeom>
          <a:ln w="10160">
            <a:solidFill>
              <a:srgbClr val="DDD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686300" y="5687568"/>
            <a:ext cx="292608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Aptos"/>
              </a:defRPr>
            </a:pPr>
            <a:r>
              <a:t>115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87568" y="3749039"/>
            <a:ext cx="0" cy="1901953"/>
          </a:xfrm>
          <a:prstGeom prst="line">
            <a:avLst/>
          </a:prstGeom>
          <a:ln w="10160">
            <a:solidFill>
              <a:srgbClr val="DDD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541264" y="5687568"/>
            <a:ext cx="292608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Aptos"/>
              </a:defRPr>
            </a:pPr>
            <a:r>
              <a:t>120</a:t>
            </a:r>
          </a:p>
        </p:txBody>
      </p:sp>
      <p:sp>
        <p:nvSpPr>
          <p:cNvPr id="58" name="Oval 57"/>
          <p:cNvSpPr/>
          <p:nvPr/>
        </p:nvSpPr>
        <p:spPr>
          <a:xfrm>
            <a:off x="969264" y="3886200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33856" y="3858768"/>
            <a:ext cx="1060704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855A"/>
                </a:solidFill>
                <a:latin typeface="Aptos"/>
              </a:defRPr>
            </a:pPr>
            <a:r>
              <a:t>Boulware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267712" y="3858768"/>
            <a:ext cx="1111453" cy="201168"/>
          </a:xfrm>
          <a:prstGeom prst="roundRect">
            <a:avLst/>
          </a:prstGeom>
          <a:solidFill>
            <a:srgbClr val="2F855A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34029" y="3877055"/>
            <a:ext cx="51206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F2937"/>
                </a:solidFill>
                <a:latin typeface="Aptos"/>
              </a:defRPr>
            </a:pPr>
            <a:r>
              <a:t>106.50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66944" y="3877055"/>
            <a:ext cx="133502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B7280"/>
                </a:solidFill>
                <a:latin typeface="Aptos"/>
              </a:defRPr>
            </a:pPr>
            <a:r>
              <a:t>R7 | R5</a:t>
            </a:r>
          </a:p>
        </p:txBody>
      </p:sp>
      <p:sp>
        <p:nvSpPr>
          <p:cNvPr id="63" name="Oval 62"/>
          <p:cNvSpPr/>
          <p:nvPr/>
        </p:nvSpPr>
        <p:spPr>
          <a:xfrm>
            <a:off x="969264" y="42519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33856" y="4224528"/>
            <a:ext cx="1060704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267712" y="4224528"/>
            <a:ext cx="1880920" cy="2011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03496" y="4242816"/>
            <a:ext cx="51206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F2937"/>
                </a:solidFill>
                <a:latin typeface="Aptos"/>
              </a:defRPr>
            </a:pPr>
            <a:r>
              <a:t>111.00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66944" y="4242816"/>
            <a:ext cx="133502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B7280"/>
                </a:solidFill>
                <a:latin typeface="Aptos"/>
              </a:defRPr>
            </a:pPr>
            <a:r>
              <a:t>R7 | R6</a:t>
            </a:r>
          </a:p>
        </p:txBody>
      </p:sp>
      <p:sp>
        <p:nvSpPr>
          <p:cNvPr id="68" name="Oval 67"/>
          <p:cNvSpPr/>
          <p:nvPr/>
        </p:nvSpPr>
        <p:spPr>
          <a:xfrm>
            <a:off x="969264" y="4617720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33856" y="4590288"/>
            <a:ext cx="1060704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766E"/>
                </a:solidFill>
                <a:latin typeface="Aptos"/>
              </a:defRPr>
            </a:pPr>
            <a:r>
              <a:t>Tit for Tat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267712" y="4590288"/>
            <a:ext cx="2279334" cy="20116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01910" y="4608576"/>
            <a:ext cx="51206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F2937"/>
                </a:solidFill>
                <a:latin typeface="Aptos"/>
              </a:defRPr>
            </a:pPr>
            <a:r>
              <a:t>113.33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66944" y="4608576"/>
            <a:ext cx="133502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B7280"/>
                </a:solidFill>
                <a:latin typeface="Aptos"/>
              </a:defRPr>
            </a:pPr>
            <a:r>
              <a:t>R7 | R6</a:t>
            </a:r>
          </a:p>
        </p:txBody>
      </p:sp>
      <p:sp>
        <p:nvSpPr>
          <p:cNvPr id="73" name="Oval 72"/>
          <p:cNvSpPr/>
          <p:nvPr/>
        </p:nvSpPr>
        <p:spPr>
          <a:xfrm>
            <a:off x="969264" y="4983480"/>
            <a:ext cx="109728" cy="109728"/>
          </a:xfrm>
          <a:prstGeom prst="ellipse">
            <a:avLst/>
          </a:prstGeom>
          <a:solidFill>
            <a:srgbClr val="C47A0A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33856" y="4956048"/>
            <a:ext cx="1060704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47A0A"/>
                </a:solidFill>
                <a:latin typeface="Aptos"/>
              </a:defRPr>
            </a:pPr>
            <a:r>
              <a:t>Meso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267712" y="4956048"/>
            <a:ext cx="2291303" cy="201168"/>
          </a:xfrm>
          <a:prstGeom prst="roundRect">
            <a:avLst/>
          </a:prstGeom>
          <a:solidFill>
            <a:srgbClr val="C47A0A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13879" y="4974336"/>
            <a:ext cx="51206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F2937"/>
                </a:solidFill>
                <a:latin typeface="Aptos"/>
              </a:defRPr>
            </a:pPr>
            <a:r>
              <a:t>113.40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66944" y="4974336"/>
            <a:ext cx="133502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B7280"/>
                </a:solidFill>
                <a:latin typeface="Aptos"/>
              </a:defRPr>
            </a:pPr>
            <a:r>
              <a:t>R7 | R5</a:t>
            </a:r>
          </a:p>
        </p:txBody>
      </p:sp>
      <p:sp>
        <p:nvSpPr>
          <p:cNvPr id="78" name="Oval 77"/>
          <p:cNvSpPr/>
          <p:nvPr/>
        </p:nvSpPr>
        <p:spPr>
          <a:xfrm>
            <a:off x="969264" y="5349240"/>
            <a:ext cx="109728" cy="109728"/>
          </a:xfrm>
          <a:prstGeom prst="ellipse">
            <a:avLst/>
          </a:prstGeom>
          <a:solidFill>
            <a:srgbClr val="C24163"/>
          </a:solidFill>
          <a:ln w="12700">
            <a:solidFill>
              <a:srgbClr val="C24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33856" y="5321808"/>
            <a:ext cx="1060704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24163"/>
                </a:solidFill>
                <a:latin typeface="Aptos"/>
              </a:defRPr>
            </a:pPr>
            <a:r>
              <a:t>Conceder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267712" y="5321808"/>
            <a:ext cx="3419856" cy="201168"/>
          </a:xfrm>
          <a:prstGeom prst="roundRect">
            <a:avLst/>
          </a:prstGeom>
          <a:solidFill>
            <a:srgbClr val="C24163"/>
          </a:solidFill>
          <a:ln w="12700">
            <a:solidFill>
              <a:srgbClr val="C24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742431" y="5340096"/>
            <a:ext cx="51206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>
                <a:solidFill>
                  <a:srgbClr val="1F2937"/>
                </a:solidFill>
                <a:latin typeface="Aptos"/>
              </a:defRPr>
            </a:pPr>
            <a:r>
              <a:t>120.00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66944" y="5340096"/>
            <a:ext cx="1335024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B7280"/>
                </a:solidFill>
                <a:latin typeface="Aptos"/>
              </a:defRPr>
            </a:pPr>
            <a:r>
              <a:t>R7 | R5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9264" y="5797296"/>
            <a:ext cx="6309360" cy="128016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B7280"/>
                </a:solidFill>
                <a:latin typeface="Aptos"/>
              </a:defRPr>
            </a:pPr>
            <a:r>
              <a:t>Current passing output: Boulware 106.50, Baseline 111.00, Tit for Tat 113.33, Meso 113.40, Conceder 120.00.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717536" y="3236976"/>
            <a:ext cx="4005072" cy="2761488"/>
          </a:xfrm>
          <a:prstGeom prst="roundRect">
            <a:avLst/>
          </a:prstGeom>
          <a:solidFill>
            <a:srgbClr val="18253C"/>
          </a:solidFill>
          <a:ln w="12700">
            <a:solidFill>
              <a:srgbClr val="182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955279" y="3419856"/>
            <a:ext cx="2011680" cy="164592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900416" y="3822191"/>
            <a:ext cx="363931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028431" y="3950207"/>
            <a:ext cx="109728" cy="10972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29600" y="3913631"/>
            <a:ext cx="1024128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855A"/>
                </a:solidFill>
                <a:latin typeface="Aptos"/>
              </a:defRPr>
            </a:pPr>
            <a:r>
              <a:t>Boulware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53728" y="3913631"/>
            <a:ext cx="2103120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1F2937"/>
                </a:solidFill>
                <a:latin typeface="Aptos"/>
              </a:defRPr>
            </a:pPr>
            <a:r>
              <a:t>holds price hardest and still closes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900416" y="4279392"/>
            <a:ext cx="363931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028431" y="4407407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29600" y="4370831"/>
            <a:ext cx="1024128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253728" y="4370831"/>
            <a:ext cx="2103120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1F2937"/>
                </a:solidFill>
                <a:latin typeface="Aptos"/>
              </a:defRPr>
            </a:pPr>
            <a:r>
              <a:t>gives some price to keep momentum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900416" y="4736592"/>
            <a:ext cx="363931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028431" y="4864607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229600" y="4828031"/>
            <a:ext cx="1024128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766E"/>
                </a:solidFill>
                <a:latin typeface="Aptos"/>
              </a:defRPr>
            </a:pPr>
            <a:r>
              <a:t>Tit for Tat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253728" y="4828031"/>
            <a:ext cx="2103120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1F2937"/>
                </a:solidFill>
                <a:latin typeface="Aptos"/>
              </a:defRPr>
            </a:pPr>
            <a:r>
              <a:t>tracks close to Baseline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900416" y="5193792"/>
            <a:ext cx="363931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028431" y="5321807"/>
            <a:ext cx="109728" cy="109728"/>
          </a:xfrm>
          <a:prstGeom prst="ellipse">
            <a:avLst/>
          </a:prstGeom>
          <a:solidFill>
            <a:srgbClr val="C47A0A"/>
          </a:solidFill>
          <a:ln w="12700">
            <a:solidFill>
              <a:srgbClr val="C47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29600" y="5285231"/>
            <a:ext cx="1024128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47A0A"/>
                </a:solidFill>
                <a:latin typeface="Aptos"/>
              </a:defRPr>
            </a:pPr>
            <a:r>
              <a:t>Meso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53728" y="5285231"/>
            <a:ext cx="2103120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1F2937"/>
                </a:solidFill>
                <a:latin typeface="Aptos"/>
              </a:defRPr>
            </a:pPr>
            <a:r>
              <a:t>primary offer closes at 113.40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900416" y="5650992"/>
            <a:ext cx="363931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028431" y="5779007"/>
            <a:ext cx="109728" cy="109728"/>
          </a:xfrm>
          <a:prstGeom prst="ellipse">
            <a:avLst/>
          </a:prstGeom>
          <a:solidFill>
            <a:srgbClr val="C24163"/>
          </a:solidFill>
          <a:ln w="12700">
            <a:solidFill>
              <a:srgbClr val="C24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29600" y="5742431"/>
            <a:ext cx="1024128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24163"/>
                </a:solidFill>
                <a:latin typeface="Aptos"/>
              </a:defRPr>
            </a:pPr>
            <a:r>
              <a:t>Conceder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253728" y="5742431"/>
            <a:ext cx="2103120" cy="109728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1F2937"/>
                </a:solidFill>
                <a:latin typeface="Aptos"/>
              </a:defRPr>
            </a:pPr>
            <a:r>
              <a:t>accepts the ceiling to close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900416" y="5632704"/>
            <a:ext cx="3639312" cy="237744"/>
          </a:xfrm>
          <a:prstGeom prst="roundRect">
            <a:avLst/>
          </a:prstGeom>
          <a:solidFill>
            <a:srgbClr val="223242"/>
          </a:solidFill>
          <a:ln w="12700">
            <a:solidFill>
              <a:srgbClr val="223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065008" y="5687568"/>
            <a:ext cx="3310128" cy="91440"/>
          </a:xfrm>
          <a:prstGeom prst="rect">
            <a:avLst/>
          </a:prstGeom>
          <a:noFill/>
        </p:spPr>
        <p:txBody>
          <a:bodyPr wrap="square" lIns="54864" rIns="36576" tIns="36576" bIns="18288" anchor="t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Source: PriceSensitivityTest over 1,000 runs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